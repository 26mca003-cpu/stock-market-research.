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4e5fd594d4c4f35" Type="http://schemas.openxmlformats.org/officeDocument/2006/relationships/officeDocument" Target="ppt/presentation.xml"/><Relationship Id="Re31d81acb53c4b74" Type="http://schemas.openxmlformats.org/officeDocument/2006/relationships/extended-properties" Target="docProps/app.xml"/><Relationship Id="Ref572c38c0c440e5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adac8fcf434bc8"/>
  </p:sldMasterIdLst>
  <p:notesMasterIdLst>
    <p:notesMasterId xmlns:r="http://schemas.openxmlformats.org/officeDocument/2006/relationships" r:id="R06d030abc3464b6b"/>
  </p:notesMasterIdLst>
  <p:sldIdLst>
    <p:sldId xmlns:r="http://schemas.openxmlformats.org/officeDocument/2006/relationships" id="256" r:id="Rc7358d45d7e24162"/>
    <p:sldId xmlns:r="http://schemas.openxmlformats.org/officeDocument/2006/relationships" id="257" r:id="R3e17834544704860"/>
    <p:sldId xmlns:r="http://schemas.openxmlformats.org/officeDocument/2006/relationships" id="258" r:id="Rb6ea549eda264dba"/>
    <p:sldId xmlns:r="http://schemas.openxmlformats.org/officeDocument/2006/relationships" id="259" r:id="Red392ffa5e6f4c61"/>
    <p:sldId xmlns:r="http://schemas.openxmlformats.org/officeDocument/2006/relationships" id="260" r:id="Re5e538cd51d64396"/>
    <p:sldId xmlns:r="http://schemas.openxmlformats.org/officeDocument/2006/relationships" id="261" r:id="R281cd4caf3cf41dc"/>
    <p:sldId xmlns:r="http://schemas.openxmlformats.org/officeDocument/2006/relationships" id="262" r:id="R6ba54697adf84b0b"/>
    <p:sldId xmlns:r="http://schemas.openxmlformats.org/officeDocument/2006/relationships" id="263" r:id="R170dcb2c9c86449c"/>
    <p:sldId xmlns:r="http://schemas.openxmlformats.org/officeDocument/2006/relationships" id="264" r:id="R420d674294b241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d030abc3464b6b" Type="http://schemas.openxmlformats.org/officeDocument/2006/relationships/notesMaster" Target="notesMasters/notesMaster1.xml"/><Relationship Id="R09adac8fcf434bc8" Type="http://schemas.openxmlformats.org/officeDocument/2006/relationships/slideMaster" Target="slideMasters/slideMaster1.xml"/><Relationship Id="R170dcb2c9c86449c" Type="http://schemas.openxmlformats.org/officeDocument/2006/relationships/slide" Target="slides/slide8.xml"/><Relationship Id="R281cd4caf3cf41dc" Type="http://schemas.openxmlformats.org/officeDocument/2006/relationships/slide" Target="slides/slide6.xml"/><Relationship Id="R3e17834544704860" Type="http://schemas.openxmlformats.org/officeDocument/2006/relationships/slide" Target="slides/slide2.xml"/><Relationship Id="R420d674294b24108" Type="http://schemas.openxmlformats.org/officeDocument/2006/relationships/slide" Target="slides/slide9.xml"/><Relationship Id="R6ba54697adf84b0b" Type="http://schemas.openxmlformats.org/officeDocument/2006/relationships/slide" Target="slides/slide7.xml"/><Relationship Id="R789277b830fe45ae" Type="http://schemas.openxmlformats.org/officeDocument/2006/relationships/theme" Target="theme/theme1.xml"/><Relationship Id="Rb6ea549eda264dba" Type="http://schemas.openxmlformats.org/officeDocument/2006/relationships/slide" Target="slides/slide3.xml"/><Relationship Id="Rc7358d45d7e24162" Type="http://schemas.openxmlformats.org/officeDocument/2006/relationships/slide" Target="slides/slide1.xml"/><Relationship Id="Rc9eded0239a54682" Type="http://schemas.openxmlformats.org/officeDocument/2006/relationships/presProps" Target="presProps.xml"/><Relationship Id="Re196deb21a314193" Type="http://schemas.openxmlformats.org/officeDocument/2006/relationships/tableStyles" Target="tableStyles.xml"/><Relationship Id="Re5e538cd51d64396" Type="http://schemas.openxmlformats.org/officeDocument/2006/relationships/slide" Target="slides/slide5.xml"/><Relationship Id="Red392ffa5e6f4c6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75d258c2d62f4c6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677eb3586234581" Type="http://schemas.openxmlformats.org/officeDocument/2006/relationships/notesMaster" Target="../notesMasters/notesMaster1.xml"/><Relationship Id="Rcc907be17ca6423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5e7bf3e12fe4953" Type="http://schemas.openxmlformats.org/officeDocument/2006/relationships/slide" Target="../slides/slide2.xml"/><Relationship Id="Raa94d8406a8b4a1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972535304914644" Type="http://schemas.openxmlformats.org/officeDocument/2006/relationships/notesMaster" Target="../notesMasters/notesMaster1.xml"/><Relationship Id="R763641d391b6472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b65c33e24dd40cc" Type="http://schemas.openxmlformats.org/officeDocument/2006/relationships/slide" Target="../slides/slide4.xml"/><Relationship Id="Rd0b40bf22b1e4db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f9196d94eae4cf2" Type="http://schemas.openxmlformats.org/officeDocument/2006/relationships/slide" Target="../slides/slide5.xml"/><Relationship Id="Rea8b5da3db1c4a8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051561fd3c54778" Type="http://schemas.openxmlformats.org/officeDocument/2006/relationships/notesMaster" Target="../notesMasters/notesMaster1.xml"/><Relationship Id="R2fa87f99b1e9417f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b531b7e586e404c" Type="http://schemas.openxmlformats.org/officeDocument/2006/relationships/slide" Target="../slides/slide7.xml"/><Relationship Id="R9aea0b2d5a0640fa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aab5cd811a46439a" Type="http://schemas.openxmlformats.org/officeDocument/2006/relationships/slide" Target="../slides/slide8.xml"/><Relationship Id="Rcffd3bb217a9497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20d57c5af5749c7" Type="http://schemas.openxmlformats.org/officeDocument/2006/relationships/slide" Target="../slides/slide9.xml"/><Relationship Id="Rc3982ef4101e4ad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README.md and submission.yaml.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docs/problem-statement.md.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docs/solution-overview.md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Six-Layer Scoring Framework.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src/frontend routes/components. Dashboard visual is an illustrative composition, not a live data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docs/vercel-render-genspark.md, docs/render-deployment.md, and backend configuration. Crawl4AI is an intended integration and must be configured before production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Responsible Use and Regulatory Compliance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docs/team.md and docs/vercel-render-genspark.md.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b9d0eac9ef1425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265e61e54c54ed3" Type="http://schemas.openxmlformats.org/officeDocument/2006/relationships/theme" Target="theme/theme2.xml"/><Relationship Id="Rbd644c24f14242f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44c24f14242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f9c05dad2934cde" Type="http://schemas.openxmlformats.org/officeDocument/2006/relationships/notesSlide" Target="../notesSlides/notesSlide1.xml"/><Relationship Id="R522778956a754d7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7ed97335402a48ec" Type="http://schemas.openxmlformats.org/officeDocument/2006/relationships/notesSlide" Target="../notesSlides/notesSlide2.xml"/><Relationship Id="R977d182eb779408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bbe2e84767b4010" Type="http://schemas.openxmlformats.org/officeDocument/2006/relationships/slideLayout" Target="../slideLayouts/slideLayout1.xml"/><Relationship Id="Rc6c12f0c605d40a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0bc8d20c22d4bde" Type="http://schemas.openxmlformats.org/officeDocument/2006/relationships/notesSlide" Target="../notesSlides/notesSlide4.xml"/><Relationship Id="Rff5188ff6b6248d8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e1d6b0aee3b4892" Type="http://schemas.openxmlformats.org/officeDocument/2006/relationships/slideLayout" Target="../slideLayouts/slideLayout1.xml"/><Relationship Id="Rc0fc0866877b432f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53ab469cf5ef491a" Type="http://schemas.openxmlformats.org/officeDocument/2006/relationships/slideLayout" Target="../slideLayouts/slideLayout1.xml"/><Relationship Id="Rc6cb8ba9e9d74f2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aec686010a5a4c3a" Type="http://schemas.openxmlformats.org/officeDocument/2006/relationships/slideLayout" Target="../slideLayouts/slideLayout1.xml"/><Relationship Id="Re1fece9167e04fe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afce10a3f6d4e0c" Type="http://schemas.openxmlformats.org/officeDocument/2006/relationships/notesSlide" Target="../notesSlides/notesSlide8.xml"/><Relationship Id="Rce1e835015564fa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ad866553390c49b3" Type="http://schemas.openxmlformats.org/officeDocument/2006/relationships/slideLayout" Target="../slideLayouts/slideLayout1.xml"/><Relationship Id="Rb1b6c96ecfa84d2f" Type="http://schemas.openxmlformats.org/officeDocument/2006/relationships/notesSlide" Target="../notesSlides/notesSlide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583DA-9C0D-49EB-AF7C-BE2192ED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EF68C-96E1-40C4-93DA-60A1C7C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0"/>
            <a:ext cx="411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B2A23-F315-43C3-B7DE-33A5CC24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0013-E694-4A3A-8A7A-211E2F13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66925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4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4DF0-CD61-4808-B152-8E9E342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050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72033-12D4-4CF9-A24F-6B955119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CAD5-4947-49B3-9AC4-0BDF9B09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29"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FFFFFF"/>
                </a:solidFill>
                <a:latin typeface="Cambria"/>
                <a:ea typeface="Arial"/>
                <a:cs typeface="Arial"/>
              </a:rPr>
              <a:t>VRIDDHI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12F95-A8D2-42F7-B133-CD591EB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3DDCB"/>
                </a:solidFill>
                <a:latin typeface="Calibri"/>
                <a:ea typeface="Arial"/>
                <a:cs typeface="Arial"/>
              </a:rPr>
              <a:t>AI Stock Research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D28FB-6F4F-493D-A361-8110FDB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82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Explainable, educational research for Indian retail investors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85D85-60DD-4ADF-AA7E-AA61AB2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6B878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C9A24B"/>
                </a:solidFill>
                <a:latin typeface="Calibri"/>
                <a:ea typeface="Arial"/>
                <a:cs typeface="Arial"/>
              </a:rPr>
              <a:t>IBM Bobathon  |  AI Track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B53D5-C76C-4836-817F-681B784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Dharsandiya Prit Dilipbhai</a:t>
            </a:r>
          </a:p>
          <a:p xmlns:a="http://schemas.openxmlformats.org/drawingml/2006/main">
            <a:pPr>
              <a:buNone/>
              <a:defRPr sz="112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Dhruv Joshi Rahul  |  Nanda Bhavya  |  Devani Kunj Dipakbhai</a:t>
            </a:r>
          </a:p>
        </p:txBody>
      </p:sp>
    </p:spTree>
    <p:extLst>
      <p:ext uri="{BB962C8B-B14F-4D97-AF65-F5344CB8AC3E}">
        <p14:creationId xmlns:p14="http://schemas.microsoft.com/office/powerpoint/2010/main" val="663192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CD834-5ACB-41B9-9BFB-151FCDB0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07193-BCD1-4FE2-8819-25CBD7BB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26"/>
                </a:solidFill>
                <a:latin typeface="Cambria"/>
                <a:ea typeface="Arial"/>
                <a:cs typeface="Arial"/>
              </a:rPr>
              <a:t>The research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0EB4D-DF78-4A6F-AA4D-F97F9CED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Indian retail investors work across disconnected data 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43331-E66C-4A7B-AFB5-23E204E6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8B5F8-5E3D-4899-97B5-CA93CBCA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676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17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E"/>
                </a:solidFill>
                <a:latin typeface="Cambria"/>
                <a:ea typeface="Arial"/>
                <a:cs typeface="Arial"/>
              </a:rPr>
              <a:t>One research decision can require a market-data site, filings portal, annual report, news feed, and technical chart.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17BD-1488-4B3A-8E39-7F1FCA3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7831C-9297-462A-87C9-1D406E91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Fragmented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67982-A5DB-420B-8AB7-789CD6E9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34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Financial statements, corporate announcements, and price data live in separate places.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35A1E-D2D5-471C-AF60-4B76110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D9B00-77E2-4C97-8C6D-9B87B9A0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671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Uneven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EA638-9920-428D-B67E-9F775DDE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Headlines and isolated ratios can hide governance, cash-flow, or disclosure risks.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C7041-565D-49E3-A9E1-03DF3206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CAC5A-461F-4A68-BDEE-F13F4947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00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Hard to repeat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3E9E7-90DC-45C9-8B7A-82FB11FB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Manual analysis produces inconsistent comparisons across companies.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6FBAC-17D8-4672-8A7B-ACBE49F1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143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04A81-A6EE-4422-A238-9D3BD91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5316D-0C68-44C9-B9BC-CF054212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What users need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C2B4A-436F-4E2D-8372-1DB3217D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32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02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42A26"/>
                </a:solidFill>
                <a:latin typeface="Calibri"/>
                <a:ea typeface="Arial"/>
                <a:cs typeface="Arial"/>
              </a:rPr>
              <a:t>A repeatable workflow that brings evidence together and explains the score behind the conclusion.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BF0E2-B2EF-48B5-AACF-4773C735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E8F33-D726-48A4-A856-5A92E90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397BF-00ED-4920-9DDF-E199A1F8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7563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B18CE-9C78-45AB-B190-0CD83578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B9F62-28A4-4F7D-BC3B-56ABB059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26"/>
                </a:solidFill>
                <a:latin typeface="Cambria"/>
                <a:ea typeface="Arial"/>
                <a:cs typeface="Arial"/>
              </a:rPr>
              <a:t>Vriddhi research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6A7F7-DD6D-49D2-A6C1-47E4FFDE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Structured evidence first, optional AI synthesis second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8405F-8195-48B0-B6C5-635335E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E868C-ABDF-410F-A62D-CB10FA8E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78E05-9D8F-480E-8D8A-48229BB3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1ED83-DDEC-4919-A4EF-AD38287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098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79B7C-F39A-4154-BEF5-23803735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86D71-9606-4B8C-A95B-79AB2113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Choose an Indian equity or saved holding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071C2-B6E7-40ED-8EE9-E9233144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7F3C7-2687-49EA-8FB9-81BBBF3A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5709A-D0B8-4BF5-A52D-1D2119E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98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B42F4-D7B3-42E4-A8B2-6B91513D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Collect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9E0A1-2BE5-4EC2-A0DF-E62E1D5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099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Load market data, filings, news, and fundamentals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B588A-497D-4C6F-8F90-BC0F72D7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D91C6-33B4-4872-BC7A-361C6A0A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C5447-3ECF-40DE-B35E-EDD995F2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98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9CDA2-E541-47CE-9662-2EE222F2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0CE2D-2CB8-404C-89FD-D80AA868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Calculate six transparent research layers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F17B7-FC60-4AB1-A7DD-FA6A2705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F0818-3A45-429D-A87E-DC70EFA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01283-FF87-4830-B422-030CE936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A777EE-46D7-407A-A478-EA880C3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99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Show metrics, red flags, charts, and safeguards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167FA-7F9B-4D96-A138-C8C856D4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32B25-0FB1-4305-A94F-FC4CCDD0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4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4D776-AA47-43F8-A0BD-F9CB107F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16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The deterministic score remains the source of truth. Gemini or Groq can summarize the structured evidence, while sanitization removes prohibited recommendation language.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1F4B6-B4A6-42D8-A32D-AD3598B1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D8868-540C-4BE6-9012-802C06E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8AE71-423D-4FAC-B664-E4884C83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8447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D0C329-9979-4EB6-9FE0-8CFEEB47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974AE-F06C-4262-93F8-D665EC1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26"/>
                </a:solidFill>
                <a:latin typeface="Cambria"/>
                <a:ea typeface="Arial"/>
                <a:cs typeface="Arial"/>
              </a:rPr>
              <a:t>Six-layer research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A3E29-1B18-464F-866A-A2AF164E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100 points across quality, risk, value, and market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C7FB5-3160-4DFF-9E8F-F5699FF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8F028-BEB4-4C2C-A094-1FC61E47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B3E89-FC3B-43D0-AF85-165F8B1D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5D79C-2763-429C-B0F5-D06F2D31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43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L1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24301-29AC-4E1D-A022-4EFCB281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145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3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Business quality &amp; moat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F93F1-6E2A-4760-BF00-E41F3EE4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15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5154F-8046-416B-8BF9-90BCB742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8E152-675E-4CC8-B63A-73A76F17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52A80-D1D3-40AE-A792-737255DE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43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L2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BFCC8-7A88-492A-A1D2-97BA1178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Financial strength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3DDB1-3F1C-44AD-B231-9A3C18DA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25 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629DB-8828-4D13-A73E-8FD554D0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70228-571A-4B99-8418-26AD6A5C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FBAC8-53C9-4167-B4BE-8EE55DC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43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L3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26FA3-0ABB-4FB8-B0DE-EA5D99B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19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Valuation &amp; margin of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62A75-3046-41AD-976A-1F257EC9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15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73051-CA6B-48A4-9689-932B16F5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E7EE7-9900-4ADA-BDFB-ABA86183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B6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DE28C-4165-4CC3-BDE2-CE0A845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57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L4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FFB99-2521-484D-B4C3-ADA17937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290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15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Management &amp; governance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E6D6D-69D9-4D5E-A0A1-6EFC4A25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20 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DAFFF-089D-4B27-B022-1F2746F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DB828-37A9-4D67-87A5-6215A5AC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09E56-DE30-45DD-AB33-EBB65C0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L5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66049-0FFF-4286-B4C0-8B610B5D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290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2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Growth story &amp; 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6507C-6B06-4FAC-BC14-3D97412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00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15 points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2D7BF-062A-45A3-AAF7-EEE3DA62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FF8E4B-5106-41F6-9ED1-B1972E61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B6E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A00EBF-EAAA-4301-8A01-9A80CECB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057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L6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73C105-E463-4D0A-861D-B851BCE2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3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Technical setup &amp; timing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524810-C358-4BB3-9A51-01ED126C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10 points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7A6E4-DB24-4DA7-9F1B-D88B1233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4514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B6E4E"/>
                </a:solidFill>
                <a:latin typeface="Calibri"/>
                <a:ea typeface="Arial"/>
                <a:cs typeface="Arial"/>
              </a:rPr>
              <a:t>Score bands communicate research priority, not investment recommendations.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1BAEAB-194A-449D-BB37-070DAFE4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6D9C17-0B42-4D29-99BA-1D71F96E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F044AD-59F0-42D9-8451-625304B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0392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5A2AF4-96CD-4726-B4A6-6C4B19CE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023F2-15CB-4104-88A2-C2BA541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26"/>
                </a:solidFill>
                <a:latin typeface="Cambria"/>
                <a:ea typeface="Arial"/>
                <a:cs typeface="Arial"/>
              </a:rPr>
              <a:t>Research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EDE25-C8C1-4368-B131-9380DAD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A focused dashboard replaces the manual research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00332-EB80-4C6F-A221-791BD626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021AF-BB02-44B0-BB5E-0FB6105C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905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D0A6C-E007-4136-9C64-7F0316E7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BBDED-97F5-480F-B452-394CED4E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RELIANCE.NS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500A7-0556-42C7-A258-0C1F6D3A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476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57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6D3D5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E3DDCB"/>
                </a:solidFill>
                <a:latin typeface="Calibri"/>
                <a:ea typeface="Arial"/>
                <a:cs typeface="Arial"/>
              </a:rPr>
              <a:t>Research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8E407-8AFC-4C10-A76B-E548DE9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790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12F5F-2BF5-4150-B6D4-B6EBCD5E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6D3D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E3DDCB"/>
                </a:solidFill>
                <a:latin typeface="Calibri"/>
                <a:ea typeface="Arial"/>
                <a:cs typeface="Arial"/>
              </a:rPr>
              <a:t>Research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8A313-2780-444F-AEC0-5931E86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E3DDCB"/>
                </a:solidFill>
                <a:latin typeface="Cambria"/>
                <a:ea typeface="Arial"/>
                <a:cs typeface="Arial"/>
              </a:rPr>
              <a:t>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4CAD6-A6AD-4CC4-A8E7-E467D9F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8F1BB-7504-47D8-A983-5FA58E8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5AEC8-B7FB-4578-BF6D-51910D0A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14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6D3D5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E3DDCB"/>
                </a:solidFill>
                <a:latin typeface="Calibri"/>
                <a:ea typeface="Arial"/>
                <a:cs typeface="Arial"/>
              </a:rPr>
              <a:t>Layer contribution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2CCDC-568F-45B4-B04E-70EE329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576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936A4-9505-4815-BB6B-EDADAAD3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57600"/>
            <a:ext cx="193167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434EC-6750-4B06-897C-5EB59A62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82E3F-9702-4592-9E7A-5BA6552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16344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62452-30CD-48C9-AD5A-77FDA3A8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9BFBE-DD00-4F9C-B53F-EA90776E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143637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59DF1-D893-4F79-92F4-66DA5B1E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148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2191F-716F-41F4-9851-8A2F65FF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14850"/>
            <a:ext cx="20554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86F0A-4F59-4309-8EC9-B9453B23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0" i="1">
                <a:solidFill>
                  <a:srgbClr val="C6D3D5"/>
                </a:solidFill>
                <a:latin typeface="Arial"/>
                <a:ea typeface="Arial"/>
                <a:cs typeface="Arial"/>
              </a:defRPr>
            </a:pPr>
            <a:r>
              <a:rPr sz="1100" b="0" i="1">
                <a:solidFill>
                  <a:srgbClr val="E3DDCB"/>
                </a:solidFill>
                <a:latin typeface="Calibri"/>
                <a:ea typeface="Arial"/>
                <a:cs typeface="Arial"/>
              </a:rPr>
              <a:t>Illustrative dashboard composition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124A8-ACBD-479C-BE80-F418867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93392-9DFA-4822-943C-B979026C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81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Traceable 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978D3-D030-460F-BCDE-B884F99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Each score layer links to named financial, governance, growth, or technical inputs.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56DBD-89A8-4F4F-B779-0DA391A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864CD-D7CE-498D-AD73-3E2614CE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Risk visibility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48911-D20A-4CD6-BE8F-E399ACA9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099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Red-flag cards surface missing disclosures and data-quality gaps.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450B3-B7B9-46E7-9D18-359B4FD1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655A6-0328-4D49-B1F5-3C1602EE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Portfolio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959E7D-37D1-4AA1-B1F2-8750B61D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Watchlists, comparisons, and portfolio screens keep research organized.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992519-9A2F-4345-8DAC-13104E81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3CFEF9-D8A3-475C-B886-C875361C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9628A-42A9-49BD-8955-E961C48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393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81137-4C97-44F2-8D62-64DFBF41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9FA67-290B-4E65-9C6D-98B91978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26"/>
                </a:solidFill>
                <a:latin typeface="Cambria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8F112-BD7E-488B-8683-7E584616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A modular stack for research, scoring, and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79779-F248-45A3-A55C-FE838BB9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5E5AA-2DBF-4761-B050-B7E0715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2515C-E1E7-4A5D-9E05-D47E2AF1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9F906-BEEA-4E13-BAA8-DFFC623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82BCE-F393-4311-814F-4B25A372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31532-930A-45BC-A551-02D4D511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0288-FD3A-4D8D-8CAF-896CFFBF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Next.js + React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5EECB-03BC-4D12-A3A9-413AC86A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3D3EB-2F0B-4A2F-8BE7-015A1B61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527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511AD-C9A7-4478-84B6-42F635DE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16DA4-AB22-43F3-B875-C9138F3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4310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DBF40-9677-43D1-8ED6-30A2B27A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3360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6A02B-DD77-4069-8B5B-F88BF89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288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Market, news, filings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8E9FE-2694-4C91-8F44-C895325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213CC-639D-4A27-899A-12DA74D0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27699-1542-47E0-8E94-E8FEE2C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48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Scoring + AI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8EDDC-80CB-4C57-B47B-7A952D0D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38AC6-1B9B-4267-B4E2-15505CE8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A5236-B40D-4FC1-92A3-FF9AB3E0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Supabase / 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01563-9E72-42FA-9E44-2E308F7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A7367-73B9-46A1-B4D5-9E97237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718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D6543-80FC-4E73-ABAB-A8BA0790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718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89FF8-21B7-4876-8529-ADD1BE5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7182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6B110-A797-4B84-843D-39B6249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0C618-72CB-4FDB-BE35-8DD6BB86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26E1B-0B03-46AA-8A81-61902EA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2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Optional AI providers generate summaries from structured evidence. The scoring engine remains deterministic and auditable.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944001-7114-4ED5-B144-E8794BA7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00B6C-1DAF-4BC2-8220-CE39529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656827-8057-420E-9A5A-8815B46A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1A550-831A-441C-ABEB-ECA28DF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316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1167919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CD319-AD31-4817-A984-25E79559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C4A32-F529-4FDD-A539-83D7882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26"/>
                </a:solidFill>
                <a:latin typeface="Cambria"/>
                <a:ea typeface="Arial"/>
                <a:cs typeface="Arial"/>
              </a:rPr>
              <a:t>Data ingestion and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5ABB0-8715-4B55-A12D-F3DDBBCC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A practical path from public filings to a cloud-hosted research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0F612-A9E7-4E34-9B13-0AC0F5BE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5CCD-D9D2-4E4E-BFC9-5010816C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C24CD-CE5E-45B3-BC2E-3C37DD26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FED00-0E3F-40FF-9FA0-76AF51B1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E"/>
                </a:solidFill>
                <a:latin typeface="Cambria"/>
                <a:ea typeface="Arial"/>
                <a:cs typeface="Arial"/>
              </a:rPr>
              <a:t>Crawl4AI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5CC51-3179-4E2E-BD3B-8C16CE50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Self-hosted crawler for BSE announcements and filing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5436F-D348-49A9-A55E-75A2551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C4F39-B86F-4F31-85FB-E5ADA92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C9A38-D3DC-4A4D-9312-8175FA9C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E"/>
                </a:solidFill>
                <a:latin typeface="Cambria"/>
                <a:ea typeface="Arial"/>
                <a:cs typeface="Arial"/>
              </a:rPr>
              <a:t>Render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2D07F-2CBE-4188-9309-2D3BDDDE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56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FastAPI API with a health endpoint and environment-managed credentials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11BF9-2A5A-42A0-827D-3569E84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69B5C-7C6C-4B4B-BF9C-DE0F31AB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B8479-487B-4298-ACE2-2CF0E73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F2A2E"/>
                </a:solidFill>
                <a:latin typeface="Cambria"/>
                <a:ea typeface="Arial"/>
                <a:cs typeface="Arial"/>
              </a:rPr>
              <a:t>Vercel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E674F-77DA-4086-856A-B67C61B8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Next.js frontend with the Render API URL embedded at build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0C0F1-BA6D-4350-9B53-976DB001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68D31-4D97-4237-8ED8-13A191E4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10B1D-D42B-426F-A421-D56DF9D9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59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Keep API keys and crawler credentials on server-side services. Browser code receives only public configuration such as the API URL and Supabase anonymous key.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1B530-EFDE-4BA5-A640-604499BA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60445-6540-45B4-A68C-EC02425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DFAB2-CEB4-427A-ACAD-2B5F1E7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7702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A3F1A-28B9-4A74-8CBD-FF372818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3BBB5-2F3A-4BD0-86B3-72BDD831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26"/>
                </a:solidFill>
                <a:latin typeface="Cambria"/>
                <a:ea typeface="Arial"/>
                <a:cs typeface="Arial"/>
              </a:rPr>
              <a:t>Responsible-use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6375F-B416-49A4-AFCF-3BE288D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Vriddhi supports research and learning, not financial advice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E8B29-08B3-41B6-84B8-364F8B7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2A860-2CB7-4C41-87F2-5CD5C5A1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4553A-5F69-4174-A266-952A9C5D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No buy, sell, or hold recommendations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54116-F435-4190-9A06-9FCF924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E2605-96FE-46A9-9FAD-310347AD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A2E"/>
                </a:solidFill>
                <a:latin typeface="Calibri"/>
                <a:ea typeface="Arial"/>
                <a:cs typeface="Arial"/>
              </a:rPr>
              <a:t>No price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27FFF-36E2-430C-BC8A-62E07AB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97692-6B65-429C-811F-7A15D90E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337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A2E"/>
                </a:solidFill>
                <a:latin typeface="Calibri"/>
                <a:ea typeface="Arial"/>
                <a:cs typeface="Arial"/>
              </a:rPr>
              <a:t>Mandatory educational disclaimers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48D1D-9528-4D52-B912-1F73498F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6C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8CEFF-F2B0-4C29-883E-09B1579E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A2E"/>
                </a:solidFill>
                <a:latin typeface="Calibri"/>
                <a:ea typeface="Arial"/>
                <a:cs typeface="Arial"/>
              </a:rPr>
              <a:t>Sanitization of AI-generated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E7736-0CA1-4B35-9B32-AAD33521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D4AE2-210B-4487-B7D1-FE97983F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A2E"/>
                </a:solidFill>
                <a:latin typeface="Calibri"/>
                <a:ea typeface="Arial"/>
                <a:cs typeface="Arial"/>
              </a:rPr>
              <a:t>Public-source traceability for reported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5E062-E071-456D-99CC-4B3ABB4C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47850"/>
            <a:ext cx="31432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2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D456B-051D-497C-B433-F526E980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31011-C3C8-4AE7-BF0A-74CA25F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3DDCB"/>
                </a:solidFill>
                <a:latin typeface="Calibri"/>
                <a:ea typeface="Arial"/>
                <a:cs typeface="Arial"/>
              </a:rPr>
              <a:t>Educational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9E7B3-46D0-4EE0-A5A7-92ABF1D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305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9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Users should verify data and consult a SEBI-registered investment adviser before making investment decisions.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75B7F-61C4-4BBC-ACD1-3851036A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DC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5F3B8-5509-4AFE-AD5F-48D62DD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C9DD4-9CCD-4895-B205-51B70BA5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B6E"/>
                </a:solidFill>
                <a:latin typeface="Calibri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9893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F3936-81FD-4CE6-8976-1230F2AF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BCBB2-8C6C-4B85-877C-15C12B07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Cambria"/>
                <a:ea typeface="Arial"/>
                <a:cs typeface="Arial"/>
              </a:rPr>
              <a:t>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283DA-39D2-4AAC-8E15-27C55506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3DDCB"/>
                </a:solidFill>
                <a:latin typeface="Calibri"/>
                <a:ea typeface="Arial"/>
                <a:cs typeface="Arial"/>
              </a:rPr>
              <a:t>A submission-ready prototype with a clear path to 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918F8-3494-4EFE-A1D6-F34090E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6B8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A24B"/>
                </a:solidFill>
                <a:latin typeface="Calibri"/>
                <a:ea typeface="Arial"/>
                <a:cs typeface="Arial"/>
              </a:rPr>
              <a:t>Deploy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F9C0E-D878-4C45-BF19-1FD5E1D6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81275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1A75E-FA21-470E-ABC2-6A91F34D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Connect Vercel frontend, Render API, and Supabase environment settings.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3BC46-855B-4C79-9C4B-3B49D696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6B8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A24B"/>
                </a:solidFill>
                <a:latin typeface="Calibri"/>
                <a:ea typeface="Arial"/>
                <a:cs typeface="Arial"/>
              </a:rPr>
              <a:t>Integrate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FB33B-A9B7-45DC-91E8-6B2AEFE7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14725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7F729-F68C-4857-AE01-D5588305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90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Run Crawl4AI as a protected server-side crawler for filings and announcements.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891B1-95DA-4FFD-90B8-E0C8947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6B8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A24B"/>
                </a:solidFill>
                <a:latin typeface="Calibri"/>
                <a:ea typeface="Arial"/>
                <a:cs typeface="Arial"/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301EF-1A13-49A7-A95D-709D2FD5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48175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F7A8A-1AC6-4AA9-947F-EFECB65E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24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Test data freshness, output safeguards, and user research flows with real users.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09EC6-1F56-4891-8E20-F006138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22669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3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9155B-91E2-4294-BF3A-A8F6051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49D68-9ED4-4537-96BB-71369A3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DDCB"/>
                </a:solidFill>
                <a:latin typeface="Calibri"/>
                <a:ea typeface="Arial"/>
                <a:cs typeface="Arial"/>
              </a:rPr>
              <a:t>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7EFF8-525B-4EB0-8D33-76B51D91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7335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57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Dharsandiya Prit Dilipbhai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26MCA003</a:t>
            </a:r>
          </a:p>
          <a:p xmlns:a="http://schemas.openxmlformats.org/drawingml/2006/main">
            <a:r>
              <a:rPr sz="1300">
                <a:solidFill/>
                <a:latin typeface="Calibri"/>
              </a:rPr>
              <a:t/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Dhruv Joshi Rahul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26MCA004</a:t>
            </a:r>
          </a:p>
          <a:p xmlns:a="http://schemas.openxmlformats.org/drawingml/2006/main">
            <a:r>
              <a:rPr sz="1300">
                <a:solidFill/>
                <a:latin typeface="Calibri"/>
              </a:rPr>
              <a:t/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Nanda Bhavya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26MCA010</a:t>
            </a:r>
          </a:p>
          <a:p xmlns:a="http://schemas.openxmlformats.org/drawingml/2006/main">
            <a:r>
              <a:rPr sz="1300">
                <a:solidFill/>
                <a:latin typeface="Calibri"/>
              </a:rPr>
              <a:t/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Devani Kunj Dipakbhai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26MCA002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ADFF3-2DF1-411D-8DE8-0D816FF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Cambria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246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2026-09-15T16:03:12.8640000Z</dcterms:created>
  <dcterms:modified xsi:type="dcterms:W3CDTF">2026-09-15T16:03:12.8640000Z</dcterms:modified>
</coreProperties>
</file>