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e23ef11c9a9406f" /><Relationship Type="http://schemas.openxmlformats.org/officeDocument/2006/relationships/extended-properties" Target="/docProps/app.xml" Id="R37c8262d97644249" /><Relationship Type="http://schemas.openxmlformats.org/officeDocument/2006/relationships/officeDocument" Target="/ppt/presentation.xml" Id="Re19dc536b3cb464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0e1a8aa14b64104"/>
  </p:sldMasterIdLst>
  <p:notesMasterIdLst>
    <p:notesMasterId xmlns:r="http://schemas.openxmlformats.org/officeDocument/2006/relationships" r:id="R228db8cca5264521"/>
  </p:notesMasterIdLst>
  <p:sldIdLst>
    <p:sldId xmlns:r="http://schemas.openxmlformats.org/officeDocument/2006/relationships" id="256" r:id="Rdd29ad63ebda425d"/>
    <p:sldId xmlns:r="http://schemas.openxmlformats.org/officeDocument/2006/relationships" id="257" r:id="Rdab5aaebb9804eb4"/>
    <p:sldId xmlns:r="http://schemas.openxmlformats.org/officeDocument/2006/relationships" id="258" r:id="Reea42645d9134e48"/>
    <p:sldId xmlns:r="http://schemas.openxmlformats.org/officeDocument/2006/relationships" id="259" r:id="R3d506261ff86497c"/>
    <p:sldId xmlns:r="http://schemas.openxmlformats.org/officeDocument/2006/relationships" id="260" r:id="R3ba28028501f479e"/>
    <p:sldId xmlns:r="http://schemas.openxmlformats.org/officeDocument/2006/relationships" id="261" r:id="R036b19b9e78c4023"/>
    <p:sldId xmlns:r="http://schemas.openxmlformats.org/officeDocument/2006/relationships" id="262" r:id="R50308a62589c47f6"/>
    <p:sldId xmlns:r="http://schemas.openxmlformats.org/officeDocument/2006/relationships" id="263" r:id="Rd1b7099a87d1411c"/>
    <p:sldId xmlns:r="http://schemas.openxmlformats.org/officeDocument/2006/relationships" id="264" r:id="R59bc8847059a43b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6eddba48ada4f0c" /><Relationship Type="http://schemas.openxmlformats.org/officeDocument/2006/relationships/slideMaster" Target="/ppt/slideMasters/slideMaster1.xml" Id="R20e1a8aa14b64104" /><Relationship Type="http://schemas.openxmlformats.org/officeDocument/2006/relationships/notesMaster" Target="/ppt/notesMasters/notesMaster1.xml" Id="R228db8cca5264521" /><Relationship Type="http://schemas.openxmlformats.org/officeDocument/2006/relationships/presProps" Target="/ppt/presProps.xml" Id="R5a9d0a1dce134ca6" /><Relationship Type="http://schemas.openxmlformats.org/officeDocument/2006/relationships/tableStyles" Target="/ppt/tableStyles.xml" Id="R44855b69b4d94263" /><Relationship Type="http://schemas.openxmlformats.org/officeDocument/2006/relationships/slide" Target="/ppt/slides/slide1.xml" Id="Rdd29ad63ebda425d" /><Relationship Type="http://schemas.openxmlformats.org/officeDocument/2006/relationships/slide" Target="/ppt/slides/slide2.xml" Id="Rdab5aaebb9804eb4" /><Relationship Type="http://schemas.openxmlformats.org/officeDocument/2006/relationships/slide" Target="/ppt/slides/slide3.xml" Id="Reea42645d9134e48" /><Relationship Type="http://schemas.openxmlformats.org/officeDocument/2006/relationships/slide" Target="/ppt/slides/slide4.xml" Id="R3d506261ff86497c" /><Relationship Type="http://schemas.openxmlformats.org/officeDocument/2006/relationships/slide" Target="/ppt/slides/slide5.xml" Id="R3ba28028501f479e" /><Relationship Type="http://schemas.openxmlformats.org/officeDocument/2006/relationships/slide" Target="/ppt/slides/slide6.xml" Id="R036b19b9e78c4023" /><Relationship Type="http://schemas.openxmlformats.org/officeDocument/2006/relationships/slide" Target="/ppt/slides/slide7.xml" Id="R50308a62589c47f6" /><Relationship Type="http://schemas.openxmlformats.org/officeDocument/2006/relationships/slide" Target="/ppt/slides/slide8.xml" Id="Rd1b7099a87d1411c" /><Relationship Type="http://schemas.openxmlformats.org/officeDocument/2006/relationships/slide" Target="/ppt/slides/slide9.xml" Id="R59bc8847059a43b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bdca8353e7c435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0afcac8d56147e0" /><Relationship Type="http://schemas.openxmlformats.org/officeDocument/2006/relationships/notesMaster" Target="/ppt/notesMasters/notesMaster1.xml" Id="Rd2f141f4ce2a4d5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11d39f606f04dee" /><Relationship Type="http://schemas.openxmlformats.org/officeDocument/2006/relationships/notesMaster" Target="/ppt/notesMasters/notesMaster1.xml" Id="R1fec42d0d570498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bf6c4acccd64012" /><Relationship Type="http://schemas.openxmlformats.org/officeDocument/2006/relationships/notesMaster" Target="/ppt/notesMasters/notesMaster1.xml" Id="R62d918693d96461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bbd6614538a4d18" /><Relationship Type="http://schemas.openxmlformats.org/officeDocument/2006/relationships/notesMaster" Target="/ppt/notesMasters/notesMaster1.xml" Id="R7b02cae7f09b45b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a3e399e4f444e8d" /><Relationship Type="http://schemas.openxmlformats.org/officeDocument/2006/relationships/notesMaster" Target="/ppt/notesMasters/notesMaster1.xml" Id="Rbb61c0a988c3400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c6528247d80436d" /><Relationship Type="http://schemas.openxmlformats.org/officeDocument/2006/relationships/notesMaster" Target="/ppt/notesMasters/notesMaster1.xml" Id="R66da445c0ac64d8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c99e22ddceb42b9" /><Relationship Type="http://schemas.openxmlformats.org/officeDocument/2006/relationships/notesMaster" Target="/ppt/notesMasters/notesMaster1.xml" Id="Rc489473560cf432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4b09c2bac6046a4" /><Relationship Type="http://schemas.openxmlformats.org/officeDocument/2006/relationships/notesMaster" Target="/ppt/notesMasters/notesMaster1.xml" Id="Rc6299ff652be4dc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66cef7c494a4b45" /><Relationship Type="http://schemas.openxmlformats.org/officeDocument/2006/relationships/notesMaster" Target="/ppt/notesMasters/notesMaster1.xml" Id="Rf5abb4ce56604e3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project README.md and submission.yaml.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docs/problem-statement.md.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docs/solution-overview.md and README.md.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README.md, Six-Layer Scoring Framework.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README.md and src/frontend routes/components. Dashboard visual is an illustrative composition, not a live data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docs/architecture.md.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docs/vercel-render-genspark.md, docs/render-deployment.md, and backend configuration. Crawl4AI is an intended integration and must be configured before production use.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README.md, Responsible Use and Regulatory Compliance sections.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docs/team.md and docs/vercel-render-genspark.md.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908949ef7247f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363438488bb4813" /><Relationship Type="http://schemas.openxmlformats.org/officeDocument/2006/relationships/slideLayout" Target="/ppt/slideLayouts/slideLayout1.xml" Id="R8a3906ac4125417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a3906ac4125417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5c9af7ce5b40f7" /><Relationship Type="http://schemas.openxmlformats.org/officeDocument/2006/relationships/notesSlide" Target="/ppt/notesSlides/notesSlide1.xml" Id="Rf462397318254df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0373adb75c48c5" /><Relationship Type="http://schemas.openxmlformats.org/officeDocument/2006/relationships/notesSlide" Target="/ppt/notesSlides/notesSlide2.xml" Id="Re33aa40bbdea45e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8cc521505f4716" /><Relationship Type="http://schemas.openxmlformats.org/officeDocument/2006/relationships/notesSlide" Target="/ppt/notesSlides/notesSlide3.xml" Id="R01617a29d7064f9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228ef39e6e4615" /><Relationship Type="http://schemas.openxmlformats.org/officeDocument/2006/relationships/notesSlide" Target="/ppt/notesSlides/notesSlide4.xml" Id="R98aba3e81f79485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cf80fb13884fdd" /><Relationship Type="http://schemas.openxmlformats.org/officeDocument/2006/relationships/notesSlide" Target="/ppt/notesSlides/notesSlide5.xml" Id="Rd135d679567c4ef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01a56d56bd47f4" /><Relationship Type="http://schemas.openxmlformats.org/officeDocument/2006/relationships/notesSlide" Target="/ppt/notesSlides/notesSlide6.xml" Id="Ra06a7c3f4bf7482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bc0ff268fb4ff2" /><Relationship Type="http://schemas.openxmlformats.org/officeDocument/2006/relationships/notesSlide" Target="/ppt/notesSlides/notesSlide7.xml" Id="Re1d9540e855d4fc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e2539ca0a940c9" /><Relationship Type="http://schemas.openxmlformats.org/officeDocument/2006/relationships/notesSlide" Target="/ppt/notesSlides/notesSlide8.xml" Id="R4fa687f8cac24a6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1fdb73a23541ec" /><Relationship Type="http://schemas.openxmlformats.org/officeDocument/2006/relationships/notesSlide" Target="/ppt/notesSlides/notesSlide9.xml" Id="Ra65338e2bb1d463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684BAE-9E7D-4E7F-A9EB-5BAD116FE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B6C7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548721-8534-4F6F-8A9E-9DD536151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0"/>
            <a:ext cx="4705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F42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461E96-D07B-42D9-96E1-F1BFCF225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371600"/>
            <a:ext cx="2343150" cy="2343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4A6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52D58C-EF83-4CF0-B877-DCEEA90F3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857375"/>
            <a:ext cx="1371600" cy="1371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D8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9C8E6C-2466-47DC-8A58-5198F2BDA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3431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E3D2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50301C-D23F-4396-BD99-86FDADB7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47800"/>
            <a:ext cx="1466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E3D2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A8078B-4446-4867-A299-6925D66A3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81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857"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VRIDDHI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958EF0-CA77-4026-8752-E3C29E665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19375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428"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A9E3D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9E3D2"/>
                </a:solidFill>
                <a:latin typeface="Arial"/>
                <a:ea typeface="Arial"/>
                <a:cs typeface="Arial"/>
              </a:rPr>
              <a:t>AI Stock Research Platform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2FF46F-5893-4463-B22C-6BB777536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561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893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D7E8EE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7E8EE"/>
                </a:solidFill>
                <a:latin typeface="Arial"/>
                <a:ea typeface="Arial"/>
                <a:cs typeface="Arial"/>
              </a:rPr>
              <a:t>Explainable, educational research for Indian retail investors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E40DBC-E4CB-4F42-9664-63B4EED07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816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9B6C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9B6C7"/>
                </a:solidFill>
                <a:latin typeface="Arial"/>
                <a:ea typeface="Arial"/>
                <a:cs typeface="Arial"/>
              </a:rPr>
              <a:t>IBM Bobathon  |  AI Track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45844E-84BE-4497-A7E9-9B165FBA0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57850"/>
            <a:ext cx="581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D7E8E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D7E8EE"/>
                </a:solidFill>
                <a:latin typeface="Arial"/>
                <a:ea typeface="Arial"/>
                <a:cs typeface="Arial"/>
              </a:rPr>
              <a:t>Dharsandiya Prit Dilipbhai</a:t>
            </a:r>
          </a:p>
          <a:p xmlns:a="http://schemas.openxmlformats.org/drawingml/2006/main">
            <a:pPr>
              <a:defRPr sz="1125" b="0">
                <a:solidFill>
                  <a:srgbClr val="D7E8E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D7E8EE"/>
                </a:solidFill>
                <a:latin typeface="Arial"/>
                <a:ea typeface="Arial"/>
                <a:cs typeface="Arial"/>
              </a:rPr>
              <a:t>Dhruv Joshi Rahul  |  Nanda Bhavya  |  Devani Kunj Dipakbhai</a:t>
            </a:r>
          </a:p>
        </p:txBody>
      </p:sp>
    </p:spTree>
    <p:extLst>
      <p:ext uri="{BB962C8B-B14F-4D97-AF65-F5344CB8AC3E}">
        <p14:creationId xmlns:p14="http://schemas.microsoft.com/office/powerpoint/2010/main" val="69088634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54EB7F-A465-4DF2-A948-F64247EEC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B6C7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81C2A9-C788-471A-B43B-9F19C45B1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809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The research gap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2661B6-71F6-4D96-B293-2B2CB1533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Indian retail investors work across disconnected data sources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BAD44D-9C8E-4380-9665-8B28CE3F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9B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192A39-5EA0-4C59-B9B8-BE881E5F7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685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163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02A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02A3A"/>
                </a:solidFill>
                <a:latin typeface="Arial"/>
                <a:ea typeface="Arial"/>
                <a:cs typeface="Arial"/>
              </a:rPr>
              <a:t>One research decision can require a market-data site, filings portal, annual report, news feed, and technical chart.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B43F7F-0AE4-4853-BFF8-2258317DE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9B6C7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EFB033-69B6-4A51-97A2-A7EC59A11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0670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3016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Fragmented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25890E-A944-4F8B-AF73-C605B9F9C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390900"/>
            <a:ext cx="561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Financial statements, corporate announcements, and price data live in separate places.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E9B39C-F5FE-4F0D-AE67-0E8007520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338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9B6C7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1BE42B-4C7A-447E-83F7-7E6938D0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576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3016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Uneven quality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8866CF-0CFD-408D-BA90-35D040EF6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381500"/>
            <a:ext cx="561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Headlines and isolated ratios can hide governance, cash-flow, or disclosure risks.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7D543C-ED46-42AB-ABF1-317C3BAD7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244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B84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8B3430-C984-4421-9881-032F12BC8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0482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3016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Hard to repeat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3A6D4B-9CE1-486C-BBF1-BF39ECE5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372100"/>
            <a:ext cx="561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Manual analysis produces inconsistent comparisons across companies.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9D30AA-E906-4F39-8689-756645015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66900"/>
            <a:ext cx="30861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F31EF8-5215-494B-8644-D7D59C6B7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098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3016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What users need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4A8C79-AF45-44FF-9DEF-480410029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619375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B6C7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DE33F3-A29A-41D0-B4F9-818A85EF8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90850"/>
            <a:ext cx="230505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7035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02A3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2A3A"/>
                </a:solidFill>
                <a:latin typeface="Arial"/>
                <a:ea typeface="Arial"/>
                <a:cs typeface="Arial"/>
              </a:rPr>
              <a:t>A repeatable workflow that brings evidence together and explains the score behind the conclusion.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67E698-F62B-4E8D-8FE2-612665039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636"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VRIDDHI  |  IBM Bobathon submission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0053E2-92DB-44E8-9D90-03E4D2694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636"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32945399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857B4E-DFD0-455C-941F-64C8161B1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B6C7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5EC0D9-F636-40BF-8E76-4C2B475E9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809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Vriddhi research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A53481-E3A6-4571-94CE-55334C487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Structured evidence first, optional AI synthesis second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7AACB3-F0E7-4F31-8D6B-1250B9790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9B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8EB3EF-A828-4692-87A1-EABE03A84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33600"/>
            <a:ext cx="571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9B6C7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442992-E611-4DE1-881B-32C003305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860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EC33E5-9320-470A-8E83-EE7B2626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381250"/>
            <a:ext cx="1695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CBD4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AE0E77-FE6F-4CFE-A5B8-B03C601DA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3913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Search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515852-9A75-495B-A063-F583F3330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90900"/>
            <a:ext cx="2143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Choose an Indian equity or saved holding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04C893-C002-450A-BF13-3DA41F34C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133600"/>
            <a:ext cx="571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9B6C7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ADC299-7FEC-40C3-9216-8B926B9C3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2860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3BCC05-CB65-498E-AE86-CD665244A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381250"/>
            <a:ext cx="1695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CBD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256AAC-F9F9-4D19-8E55-FCAFE3C18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0289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3913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Collect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EDC7FA-9072-44CF-BFFC-1595C228A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390900"/>
            <a:ext cx="2143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Load market data, filings, news, and fundamentals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F9B2DC-4F7A-4B28-92B3-3A57F10F8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133600"/>
            <a:ext cx="571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E3D2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828C12-0285-4700-ACEC-B32FD0A03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2860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49FC25-D25B-4925-B105-D5BAEC2B2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381250"/>
            <a:ext cx="1695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CBD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023778-93F4-44F3-83A2-9B93C8762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0289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3913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101AC5-00A5-473A-8602-AC6AA1B46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90900"/>
            <a:ext cx="2143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Calculate six transparent research layers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BD4FB1-2FE6-4E32-97AC-BB8EE4F31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133600"/>
            <a:ext cx="571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9B6C7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015651-3CD1-4371-9BAA-68FD96A79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2860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A932B0-289E-4B93-A605-95CC7188C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0289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3913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Explain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0A975E-98E3-4A3B-95B3-81E46D677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390900"/>
            <a:ext cx="2143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Show metrics, red flags, charts, and safeguards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923587-26C2-4730-94B0-C206D96A0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29200"/>
            <a:ext cx="10382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3F1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305D57-5B69-4ABA-BC61-849C1497D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238750"/>
            <a:ext cx="9858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7792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3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3A"/>
                </a:solidFill>
                <a:latin typeface="Arial"/>
                <a:ea typeface="Arial"/>
                <a:cs typeface="Arial"/>
              </a:rPr>
              <a:t>The deterministic score remains the source of truth. Gemini or Groq can summarize the structured evidence, while sanitization removes prohibited recommendation language.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9D5668-9BB1-4019-A1D6-9DE8D8040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636"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VRIDDHI  |  IBM Bobathon submission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BE241D-8C0B-4870-9704-4E116F2A3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636"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972565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D9BBC3B-0667-4224-8B21-59B14B198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B6C7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FADF89-93A4-447A-B5B4-108A8D07A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809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Six-layer research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2D440D-4A30-4C2D-819E-383CA24FC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100 points across quality, risk, value, and market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D998A4-4A10-4B42-AD04-B8ADDBFC6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9B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D40135-066C-4E0C-81BA-8D2F21850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47850"/>
            <a:ext cx="31432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02788E-F2B2-4CD4-8299-EC5FAB334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47850"/>
            <a:ext cx="571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B6C7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603E96-608E-45C6-A282-BB4BEDB49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86000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193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L1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37ACB6-CA18-41F6-B6F9-BD5FDCE97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13360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192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Business quality &amp; moat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FED1DB-37CB-45F7-927E-1C54A6F8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67652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5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15 points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2A25AC-BE6D-4016-98C6-44DC0331D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847850"/>
            <a:ext cx="31432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D7B5B3-BBE5-44C8-B0B8-1DD493757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847850"/>
            <a:ext cx="571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E3D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A819C9-38AF-4171-B440-B13D0C05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86000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193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L2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731B7C-5D35-4223-91DC-520D77826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13360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Financial strength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CB60AF-6ADE-42E3-92BB-D84E75C4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67652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5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25 points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79A5A5-88D8-4675-9071-E71EDBEB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847850"/>
            <a:ext cx="31432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5228A8-8DA2-4042-8ACB-43B6EA486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847850"/>
            <a:ext cx="571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B84B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5AAC9A-4CFE-4F99-AEEC-2676AF1E3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86000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193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L3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5E3BA2-ADB4-4A9B-9E4D-BCC908E01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13360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5833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Valuation &amp; margin of safety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011855-95B0-4458-8F15-096121645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67652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5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15 points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16DA3A-6999-4A86-A869-E8431C90E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57600"/>
            <a:ext cx="31432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0DE477-30F9-4E2B-B1F5-9BEC784A8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57600"/>
            <a:ext cx="571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C7E7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ABA4E4-F50F-4104-AE7F-E9F17C324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95750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193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L4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2B5B23-C658-4087-94E0-BE4B7AD4C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4335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7162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Management &amp; governance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CED73A-DC69-4112-9A55-87A78601E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48627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5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20 points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7647FA-D3EC-47C4-BEAC-7AA415336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657600"/>
            <a:ext cx="31432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DD67C1-FDFA-4C42-AD84-01EC8C02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657600"/>
            <a:ext cx="571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9C5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2966AB-F596-47AD-8C6E-661520F9A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095750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193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L5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D0D6C07-BBFB-40E6-869C-5F0C774EE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94335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357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Growth story &amp; runway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46E3C82-511E-4A02-BA6A-637262E08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48627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5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15 points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CC154E-B065-4B24-BFB9-318D400F9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657600"/>
            <a:ext cx="31432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D5B4A0-B2F3-46FD-A266-2F8F60E9C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657600"/>
            <a:ext cx="571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C9E8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7910932-63F3-42FF-9268-756AE6EC1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95750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193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L6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FB93709-9ADE-4D93-A840-2B86446ED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94335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367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Technical setup &amp; timing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22A20FA-1C77-4E8C-9D3B-809F1C0FD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48627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5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10 points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60E1027-FCA3-4511-B1A4-E4997F6EC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674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75A5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D75A5A"/>
                </a:solidFill>
                <a:latin typeface="Arial"/>
                <a:ea typeface="Arial"/>
                <a:cs typeface="Arial"/>
              </a:rPr>
              <a:t>Score bands communicate research priority, not investment recommendations.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BBADD59-FAC3-4B45-A247-1D6CCE350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636"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VRIDDHI  |  IBM Bobathon submission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9D3FEF2-672A-4390-A939-BEB577016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636"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5925452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2D948F4-AABA-4568-88FF-1221867CA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B6C7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1FF589-B1E6-4F3C-AD39-27959C3AC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809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Research experience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FBF5AC-61AB-4316-A68B-0E7DEC172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A focused dashboard replaces the manual research trail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DF0E04-FB9B-412F-B36B-0939B6265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9B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9614BF-4015-4972-B0D9-AB80D4D5D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57531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B2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5B49B2-A7E1-4688-ADFE-A263860E7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764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RELIANCE.NS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1A7495-4F4A-4A97-AE23-FF84AC64D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C7DFE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7DFE6"/>
                </a:solidFill>
                <a:latin typeface="Arial"/>
                <a:ea typeface="Arial"/>
                <a:cs typeface="Arial"/>
              </a:rPr>
              <a:t>Research overview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B947F4-0013-4D8F-9BBF-D2342B43D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14650"/>
            <a:ext cx="171450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B50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7FE2EA-07D0-4060-8934-5C1C49B52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43250"/>
            <a:ext cx="123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B8D8E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B8D8E0"/>
                </a:solidFill>
                <a:latin typeface="Arial"/>
                <a:ea typeface="Arial"/>
                <a:cs typeface="Arial"/>
              </a:rPr>
              <a:t>Research score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42AF71-B131-4B48-8ED8-DD6335560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57575"/>
            <a:ext cx="1028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028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A9E3D2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A9E3D2"/>
                </a:solidFill>
                <a:latin typeface="Arial"/>
                <a:ea typeface="Arial"/>
                <a:cs typeface="Arial"/>
              </a:rPr>
              <a:t>78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9B2B36-5738-4A41-8FFE-CE24878D9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914650"/>
            <a:ext cx="2971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36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D15565-249D-47C3-B888-A16162320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914650"/>
            <a:ext cx="2362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B6C7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73FF08-ACB7-4027-9830-96C5AB448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05175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7778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8D8E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B8D8E0"/>
                </a:solidFill>
                <a:latin typeface="Arial"/>
                <a:ea typeface="Arial"/>
                <a:cs typeface="Arial"/>
              </a:rPr>
              <a:t>Layer contribution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7C2505-0A02-4062-94E7-31324B084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667125"/>
            <a:ext cx="2647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36B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0B87A9-293A-4CE8-8CE7-8660FC234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667125"/>
            <a:ext cx="2065401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B6C7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FC42C5-47D1-4990-A684-ECB665DEB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933825"/>
            <a:ext cx="2647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36B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8A3E51-DF4A-4427-B38F-5B27D403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933825"/>
            <a:ext cx="1747647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B6C7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ECB1E3-6700-4DE3-A7AF-501D89B5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200525"/>
            <a:ext cx="2647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36B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6E5B5B-8D03-4DCA-B710-F363B77CB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200525"/>
            <a:ext cx="1535811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B6C7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C4409C-50B5-4983-B861-481F0C79B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467225"/>
            <a:ext cx="2647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36B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5D444C-88BD-4307-8AB1-290826854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467225"/>
            <a:ext cx="2197799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E3D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16CB41-D479-459E-A6D0-96DB0726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577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975" b="0" i="1">
                <a:solidFill>
                  <a:srgbClr val="B8D8E0"/>
                </a:solidFill>
                <a:latin typeface="Arial"/>
                <a:ea typeface="Arial"/>
                <a:cs typeface="Arial"/>
              </a:defRPr>
            </a:pPr>
            <a:r>
              <a:rPr sz="975" b="0" i="1">
                <a:solidFill>
                  <a:srgbClr val="B8D8E0"/>
                </a:solidFill>
                <a:latin typeface="Arial"/>
                <a:ea typeface="Arial"/>
                <a:cs typeface="Arial"/>
              </a:rPr>
              <a:t>Illustrative dashboard composition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04788E-3D6D-4EEA-A47C-A39992C69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9431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3016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Traceable metrics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2D1A93-8664-4B60-8E65-E36D42972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286000"/>
            <a:ext cx="361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Each score layer links to named financial, governance, growth, or technical inputs.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F53ADE-9559-45C4-84F9-84F59ABA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0099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3016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Risk visibility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4A8613-0D47-42DD-9041-6C29F6713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352800"/>
            <a:ext cx="361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Red-flag cards surface missing disclosures and data-quality gaps.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22008D-F354-47C5-B7AC-3EADAB8CC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076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3016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Portfolio context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1DEE7F-567F-45BA-AFAB-35B78E6C2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419600"/>
            <a:ext cx="361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Watchlists, comparisons, and portfolio screens keep research organized.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7D7CA7E-C9B1-49B1-94F6-82599E645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636"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VRIDDHI  |  IBM Bobathon submission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85F7A7-A22B-46F4-A7BE-8D7D1222E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636"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7968557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A75EE85-841E-48BD-941A-4B3E2F002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B6C7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573E5F-09E9-438E-8442-CC0F07421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809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System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3AC0E5-F136-43AE-9BE4-9D022C665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A modular stack for research, scoring, and presentation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F22767-321D-4137-AE35-8907A38E8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9B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39B53D-DC71-4971-9BC2-622BE1789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0"/>
            <a:ext cx="1638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1F3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A6FF52-FCB5-4C34-87C8-7EA9A9877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1333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1296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User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6BD9C7-AF6C-4491-99A2-67ED4F199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52750"/>
            <a:ext cx="1381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3809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Browser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C3B675-FEFF-4114-B24B-DE1D9B0E8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476500"/>
            <a:ext cx="1638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7F6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6F6490-0D6F-46E3-BD31-FCF9FE18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647950"/>
            <a:ext cx="1333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1296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Frontend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23B0A8-8266-4AC4-8F07-08F66D64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952750"/>
            <a:ext cx="1381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3809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Next.js + React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14BF03-54DE-4D54-840C-858CAC4AB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476500"/>
            <a:ext cx="1638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1F3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BA8434-4B7F-4D30-AA67-2815C38AF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647950"/>
            <a:ext cx="1333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1296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Backend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35541D-9D88-417A-8F9E-81956B751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952750"/>
            <a:ext cx="1381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3809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FastAPI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5F5101-4901-493D-8FD8-177A75042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09750"/>
            <a:ext cx="1638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9C9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43AE19-68BE-41A6-B03C-781C37BC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981200"/>
            <a:ext cx="1333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1296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Data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BF1247-3E4D-4AF4-A24F-84520EC98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286000"/>
            <a:ext cx="1381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3809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Market, news, filings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B920D0-C050-4B49-8BD3-406488688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81350"/>
            <a:ext cx="1638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0DC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8CB304-FE03-4FD3-8E28-7682E9B01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352800"/>
            <a:ext cx="1333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1296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Services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43178C-8843-4537-A840-5F2583A75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657600"/>
            <a:ext cx="1381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3809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Scoring + AI summary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590954-E1C2-4DCE-AB5F-3CA0133D5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0"/>
            <a:ext cx="1638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DCF1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A82739-5AAD-47A6-9283-8EE753ED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647950"/>
            <a:ext cx="1333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1296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Storage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7B9DCD-5CA7-43FE-A032-F91CE4C32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952750"/>
            <a:ext cx="1381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3809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Supabase / PostgreSQL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27E8D3-2344-4DA5-81B4-0E26C537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895600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B6C7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96AC24-AECD-414E-9F7E-7F5302558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895600"/>
            <a:ext cx="685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B6C7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C7F641-0945-448D-B649-B1A8EA48D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956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B6C7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BD7137-84A6-456E-862E-C5A5AD029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895600"/>
            <a:ext cx="685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B6C7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BD3D36-BC71-45BF-B1C7-E5FB21709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686050"/>
            <a:ext cx="38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B6C7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9C63E1-9C07-4006-9A15-66FC459D8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247900"/>
            <a:ext cx="381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B6C7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CBE69D-4F35-4A1F-B610-C4FE17CF2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619500"/>
            <a:ext cx="381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B6C7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5E0E8D0-F70E-4193-BA46-C36859E76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895850"/>
            <a:ext cx="9048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8152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A3A"/>
                </a:solidFill>
                <a:latin typeface="Arial"/>
                <a:ea typeface="Arial"/>
                <a:cs typeface="Arial"/>
              </a:rPr>
              <a:t>Optional AI providers generate summaries from structured evidence. The scoring engine remains deterministic and auditable.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C1310D0-8659-4AA2-9C09-24C4A0D3E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636"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VRIDDHI  |  IBM Bobathon submission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344844-B13B-4BC1-BFE1-BF084CC3E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636"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0505430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B9CF0D-776D-4ED2-9645-CD449AF3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B6C7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FDB41E-C6D1-4F8A-A888-F0A7EBAA3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809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Data ingestion and deployment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5DE8AD-3FC5-4B00-ADB4-176197946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A practical path from public filings to a cloud-hosted research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11AD05-3A1D-4CA9-A30E-501C2A98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9B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03414E-453E-4167-8642-FC96B9779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19300"/>
            <a:ext cx="314325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778DC2-F723-40A5-ACE2-4E542815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19300"/>
            <a:ext cx="3143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B6C7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450BAD-DA84-451B-B1C0-41DB2664B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574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5309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Crawl4AI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C7DDC0-8A1B-40A6-BA3F-2468EFA72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90850"/>
            <a:ext cx="257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Self-hosted crawler for BSE announcements and filing extraction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FB8E25-420F-4A2F-AD08-3C966DFDD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19300"/>
            <a:ext cx="314325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63F7EB-0035-4B6C-B9A4-6719E6E5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19300"/>
            <a:ext cx="3143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E3D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34A41A-41AD-4516-A6B4-79B77FD0A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574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5309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Render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BB3E8B-04EB-4464-ACFE-3D47887C6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90850"/>
            <a:ext cx="257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529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FastAPI API with a health endpoint and environment-managed credentials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CCBAD8-8AA3-4890-B5BD-53D0AE314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19300"/>
            <a:ext cx="314325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7A54E8-703C-4A95-82D7-D05DB4B2F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19300"/>
            <a:ext cx="3143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C7E7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999EB9-45F4-4D13-8A91-AEE1A26F5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574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5309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Vercel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0192A2-4554-4E3E-9576-4970E6886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90850"/>
            <a:ext cx="257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Next.js frontend with the Render API URL embedded at build time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07C8AA-F599-4931-AB13-CB8B6BA2C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102679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3F1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9033BF-0427-4913-9720-280FE1871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76825"/>
            <a:ext cx="971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0792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3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3A"/>
                </a:solidFill>
                <a:latin typeface="Arial"/>
                <a:ea typeface="Arial"/>
                <a:cs typeface="Arial"/>
              </a:rPr>
              <a:t>Keep API keys and crawler credentials on server-side services. Browser code receives only public configuration such as the API URL and Supabase anonymous key.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D0395D-22B6-416F-8EB6-4358513B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636"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VRIDDHI  |  IBM Bobathon submission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F059A2-3581-4911-B1A9-82667B5F8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636"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49598775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A69981-9003-475B-9C75-311D1352D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B6C7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4A0D5C-81D6-4B73-9F24-00B74F58C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809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91B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91B2A"/>
                </a:solidFill>
                <a:latin typeface="Arial"/>
                <a:ea typeface="Arial"/>
                <a:cs typeface="Arial"/>
              </a:rPr>
              <a:t>Responsible-use safeguards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605522-1878-46DE-8F55-3B593173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Vriddhi supports research and learning, not financial advice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D8FEC4-20EB-4092-BEF9-3857C8593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9B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A4988E-B758-42F6-961E-59BFB33F2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050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9B6C7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2BE4BB-C75F-4DAB-97AF-F4ADD0909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6690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A3A"/>
                </a:solidFill>
                <a:latin typeface="Arial"/>
                <a:ea typeface="Arial"/>
                <a:cs typeface="Arial"/>
              </a:rPr>
              <a:t>No buy, sell, or hold recommendations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CE22D8-9E58-498B-98B5-95979B709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336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9B6C7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EC84F1-1D69-4208-B015-49B200879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955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A3A"/>
                </a:solidFill>
                <a:latin typeface="Arial"/>
                <a:ea typeface="Arial"/>
                <a:cs typeface="Arial"/>
              </a:rPr>
              <a:t>No price targets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91C91C-6BA8-4A53-8E50-297E64D10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623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9B6C7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4116FF-3F15-4D0D-A68C-ED249DB7D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2420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02A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2A3A"/>
                </a:solidFill>
                <a:latin typeface="Arial"/>
                <a:ea typeface="Arial"/>
                <a:cs typeface="Arial"/>
              </a:rPr>
              <a:t>Mandatory educational disclaimers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0E7830-DCFF-480E-A255-302BB6EF6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909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9B6C7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B2EF2C-C1BE-4A5A-AFEF-AC918712C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528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02A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2A3A"/>
                </a:solidFill>
                <a:latin typeface="Arial"/>
                <a:ea typeface="Arial"/>
                <a:cs typeface="Arial"/>
              </a:rPr>
              <a:t>Sanitization of AI-generated 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5186E1-346E-477F-9183-DB54237E6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196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B84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CBB436-CF17-4D7F-B842-254B3AFE3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8150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02A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2A3A"/>
                </a:solidFill>
                <a:latin typeface="Arial"/>
                <a:ea typeface="Arial"/>
                <a:cs typeface="Arial"/>
              </a:rPr>
              <a:t>Public-source traceability for reported metrics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92BC41-4039-4C04-BA6B-4D5A23125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828800"/>
            <a:ext cx="312420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B2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FBCC07-6D66-4994-B173-30BB45B1F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2479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4667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A9E3D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A9E3D2"/>
                </a:solidFill>
                <a:latin typeface="Arial"/>
                <a:ea typeface="Arial"/>
                <a:cs typeface="Arial"/>
              </a:rPr>
              <a:t>Educational research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D88852-28FB-4C0C-ADCC-C31664496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78130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B6C7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E3D485-557F-4979-953C-9C64E4D1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238500"/>
            <a:ext cx="2286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692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Users should verify data and consult a SEBI-registered investment adviser before making investment decisions.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37D2AC-9720-4263-860F-D15841B04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636"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VRIDDHI  |  IBM Bobathon submission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3ED14F-B56C-4BFB-8D7B-185997C7C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636"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379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3798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6357040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9153CF-E10B-407D-BE9B-E6C33128D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B6C7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A32486-013F-48E3-945D-E51335D51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23900"/>
            <a:ext cx="523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comes next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BAFDCD-6511-47C8-98DE-396B0FB06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628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A9E3D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A9E3D2"/>
                </a:solidFill>
                <a:latin typeface="Arial"/>
                <a:ea typeface="Arial"/>
                <a:cs typeface="Arial"/>
              </a:rPr>
              <a:t>A submission-ready prototype with a clear path to production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612F4B-A971-42F5-9AD3-FA36FF447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003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9697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9B6C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9B6C7"/>
                </a:solidFill>
                <a:latin typeface="Arial"/>
                <a:ea typeface="Arial"/>
                <a:cs typeface="Arial"/>
              </a:rPr>
              <a:t>Deploy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E5FD67-78D7-49A4-AAF6-779E7C39A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40030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7E8E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7E8EE"/>
                </a:solidFill>
                <a:latin typeface="Arial"/>
                <a:ea typeface="Arial"/>
                <a:cs typeface="Arial"/>
              </a:rPr>
              <a:t>Connect Vercel frontend, Render API, and Supabase environment settings.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FC0603-1F6F-46A6-A9B7-06C2989DB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147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9697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9B6C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9B6C7"/>
                </a:solidFill>
                <a:latin typeface="Arial"/>
                <a:ea typeface="Arial"/>
                <a:cs typeface="Arial"/>
              </a:rPr>
              <a:t>Integrate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909246-45FD-4B49-AB41-9E014323E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31470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9609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7E8E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7E8EE"/>
                </a:solidFill>
                <a:latin typeface="Arial"/>
                <a:ea typeface="Arial"/>
                <a:cs typeface="Arial"/>
              </a:rPr>
              <a:t>Run Crawl4AI as a protected server-side crawler for filings and announcements.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062A6F-0180-4389-A3C9-3BEB872E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291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9697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9B6C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9B6C7"/>
                </a:solidFill>
                <a:latin typeface="Arial"/>
                <a:ea typeface="Arial"/>
                <a:cs typeface="Arial"/>
              </a:rPr>
              <a:t>Validate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EBC8CD-4B46-4FFC-B2FA-82934E424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22910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9609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7E8E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7E8EE"/>
                </a:solidFill>
                <a:latin typeface="Arial"/>
                <a:ea typeface="Arial"/>
                <a:cs typeface="Arial"/>
              </a:rPr>
              <a:t>Test data freshness, output safeguards, and user research flows with real users.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550A6F-5439-44D8-AAB7-B020B9A1E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562100"/>
            <a:ext cx="2362200" cy="3543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B50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AAE29F-3D3D-4BC3-98FE-CF6D29AE2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0002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2121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A9E3D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A9E3D2"/>
                </a:solidFill>
                <a:latin typeface="Arial"/>
                <a:ea typeface="Arial"/>
                <a:cs typeface="Arial"/>
              </a:rPr>
              <a:t>Team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D64E5E-B087-402A-BF6F-6879FD4BC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95550"/>
            <a:ext cx="1762125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61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Dharsandiya Prit Dilipbhai</a:t>
            </a:r>
          </a:p>
          <a:p xmlns:a="http://schemas.openxmlformats.org/drawingml/2006/main">
            <a:pPr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26MCA003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Dhruv Joshi Rahul</a:t>
            </a:r>
          </a:p>
          <a:p xmlns:a="http://schemas.openxmlformats.org/drawingml/2006/main">
            <a:pPr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26MCA004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Nanda Bhavya</a:t>
            </a:r>
          </a:p>
          <a:p xmlns:a="http://schemas.openxmlformats.org/drawingml/2006/main">
            <a:pPr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26MCA010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Devani Kunj Dipakbhai</a:t>
            </a:r>
          </a:p>
          <a:p xmlns:a="http://schemas.openxmlformats.org/drawingml/2006/main">
            <a:pPr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26MCA002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6B0E22-7923-4394-AE18-136DD4CE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8645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3094509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2026-09-15T15:47:27.8020000Z</dcterms:created>
  <dcterms:modified xsi:type="dcterms:W3CDTF">2026-09-15T15:47:27.8020000Z</dcterms:modified>
</coreProperties>
</file>