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572c38c0c440e5" /><Relationship Type="http://schemas.openxmlformats.org/officeDocument/2006/relationships/extended-properties" Target="/docProps/app.xml" Id="Re31d81acb53c4b74" /><Relationship Type="http://schemas.openxmlformats.org/officeDocument/2006/relationships/officeDocument" Target="/ppt/presentation.xml" Id="Ra4e5fd594d4c4f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adac8fcf434bc8"/>
  </p:sldMasterIdLst>
  <p:notesMasterIdLst>
    <p:notesMasterId xmlns:r="http://schemas.openxmlformats.org/officeDocument/2006/relationships" r:id="R06d030abc3464b6b"/>
  </p:notesMasterIdLst>
  <p:sldIdLst>
    <p:sldId xmlns:r="http://schemas.openxmlformats.org/officeDocument/2006/relationships" id="256" r:id="Rc7358d45d7e24162"/>
    <p:sldId xmlns:r="http://schemas.openxmlformats.org/officeDocument/2006/relationships" id="257" r:id="R3e17834544704860"/>
    <p:sldId xmlns:r="http://schemas.openxmlformats.org/officeDocument/2006/relationships" id="258" r:id="Rb6ea549eda264dba"/>
    <p:sldId xmlns:r="http://schemas.openxmlformats.org/officeDocument/2006/relationships" id="259" r:id="Red392ffa5e6f4c61"/>
    <p:sldId xmlns:r="http://schemas.openxmlformats.org/officeDocument/2006/relationships" id="260" r:id="Re5e538cd51d64396"/>
    <p:sldId xmlns:r="http://schemas.openxmlformats.org/officeDocument/2006/relationships" id="261" r:id="R281cd4caf3cf41dc"/>
    <p:sldId xmlns:r="http://schemas.openxmlformats.org/officeDocument/2006/relationships" id="262" r:id="R6ba54697adf84b0b"/>
    <p:sldId xmlns:r="http://schemas.openxmlformats.org/officeDocument/2006/relationships" id="263" r:id="R170dcb2c9c86449c"/>
    <p:sldId xmlns:r="http://schemas.openxmlformats.org/officeDocument/2006/relationships" id="264" r:id="R420d674294b241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9277b830fe45ae" /><Relationship Type="http://schemas.openxmlformats.org/officeDocument/2006/relationships/slideMaster" Target="/ppt/slideMasters/slideMaster1.xml" Id="R09adac8fcf434bc8" /><Relationship Type="http://schemas.openxmlformats.org/officeDocument/2006/relationships/notesMaster" Target="/ppt/notesMasters/notesMaster1.xml" Id="R06d030abc3464b6b" /><Relationship Type="http://schemas.openxmlformats.org/officeDocument/2006/relationships/presProps" Target="/ppt/presProps.xml" Id="Rc9eded0239a54682" /><Relationship Type="http://schemas.openxmlformats.org/officeDocument/2006/relationships/tableStyles" Target="/ppt/tableStyles.xml" Id="Re196deb21a314193" /><Relationship Type="http://schemas.openxmlformats.org/officeDocument/2006/relationships/slide" Target="/ppt/slides/slide1.xml" Id="Rc7358d45d7e24162" /><Relationship Type="http://schemas.openxmlformats.org/officeDocument/2006/relationships/slide" Target="/ppt/slides/slide2.xml" Id="R3e17834544704860" /><Relationship Type="http://schemas.openxmlformats.org/officeDocument/2006/relationships/slide" Target="/ppt/slides/slide3.xml" Id="Rb6ea549eda264dba" /><Relationship Type="http://schemas.openxmlformats.org/officeDocument/2006/relationships/slide" Target="/ppt/slides/slide4.xml" Id="Red392ffa5e6f4c61" /><Relationship Type="http://schemas.openxmlformats.org/officeDocument/2006/relationships/slide" Target="/ppt/slides/slide5.xml" Id="Re5e538cd51d64396" /><Relationship Type="http://schemas.openxmlformats.org/officeDocument/2006/relationships/slide" Target="/ppt/slides/slide6.xml" Id="R281cd4caf3cf41dc" /><Relationship Type="http://schemas.openxmlformats.org/officeDocument/2006/relationships/slide" Target="/ppt/slides/slide7.xml" Id="R6ba54697adf84b0b" /><Relationship Type="http://schemas.openxmlformats.org/officeDocument/2006/relationships/slide" Target="/ppt/slides/slide8.xml" Id="R170dcb2c9c86449c" /><Relationship Type="http://schemas.openxmlformats.org/officeDocument/2006/relationships/slide" Target="/ppt/slides/slide9.xml" Id="R420d674294b241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d258c2d62f4c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907be17ca64230" /><Relationship Type="http://schemas.openxmlformats.org/officeDocument/2006/relationships/notesMaster" Target="/ppt/notesMasters/notesMaster1.xml" Id="R7677eb35862345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e7bf3e12fe4953" /><Relationship Type="http://schemas.openxmlformats.org/officeDocument/2006/relationships/notesMaster" Target="/ppt/notesMasters/notesMaster1.xml" Id="Raa94d8406a8b4a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3641d391b64727" /><Relationship Type="http://schemas.openxmlformats.org/officeDocument/2006/relationships/notesMaster" Target="/ppt/notesMasters/notesMaster1.xml" Id="R19725353049146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65c33e24dd40cc" /><Relationship Type="http://schemas.openxmlformats.org/officeDocument/2006/relationships/notesMaster" Target="/ppt/notesMasters/notesMaster1.xml" Id="Rd0b40bf22b1e4d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9196d94eae4cf2" /><Relationship Type="http://schemas.openxmlformats.org/officeDocument/2006/relationships/notesMaster" Target="/ppt/notesMasters/notesMaster1.xml" Id="Rea8b5da3db1c4a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a87f99b1e9417f" /><Relationship Type="http://schemas.openxmlformats.org/officeDocument/2006/relationships/notesMaster" Target="/ppt/notesMasters/notesMaster1.xml" Id="R1051561fd3c547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531b7e586e404c" /><Relationship Type="http://schemas.openxmlformats.org/officeDocument/2006/relationships/notesMaster" Target="/ppt/notesMasters/notesMaster1.xml" Id="R9aea0b2d5a0640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b5cd811a46439a" /><Relationship Type="http://schemas.openxmlformats.org/officeDocument/2006/relationships/notesMaster" Target="/ppt/notesMasters/notesMaster1.xml" Id="Rcffd3bb217a949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0d57c5af5749c7" /><Relationship Type="http://schemas.openxmlformats.org/officeDocument/2006/relationships/notesMaster" Target="/ppt/notesMasters/notesMaster1.xml" Id="Rc3982ef4101e4a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README.md and submission.yaml.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docs/problem-statement.md.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docs/solution-overview.md and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Six-Layer Scoring Framework.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and src/frontend routes/components. Dashboard visual is an illustrative composition, not a live data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docs/vercel-render-genspark.md, docs/render-deployment.md, and backend configuration. Crawl4AI is an intended integration and must be configured before production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Responsible Use and Regulatory Compliance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docs/team.md and docs/vercel-render-genspark.md.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9d0eac9ef142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65e61e54c54ed3" /><Relationship Type="http://schemas.openxmlformats.org/officeDocument/2006/relationships/slideLayout" Target="/ppt/slideLayouts/slideLayout1.xml" Id="Rbd644c24f14242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644c24f14242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2778956a754d7a" /><Relationship Type="http://schemas.openxmlformats.org/officeDocument/2006/relationships/notesSlide" Target="/ppt/notesSlides/notesSlide1.xml" Id="R1f9c05dad2934c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d182eb779408f" /><Relationship Type="http://schemas.openxmlformats.org/officeDocument/2006/relationships/notesSlide" Target="/ppt/notesSlides/notesSlide2.xml" Id="R7ed97335402a48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e2e84767b4010" /><Relationship Type="http://schemas.openxmlformats.org/officeDocument/2006/relationships/notesSlide" Target="/ppt/notesSlides/notesSlide3.xml" Id="Rc6c12f0c605d40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188ff6b6248d8" /><Relationship Type="http://schemas.openxmlformats.org/officeDocument/2006/relationships/notesSlide" Target="/ppt/notesSlides/notesSlide4.xml" Id="R90bc8d20c22d4b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1d6b0aee3b4892" /><Relationship Type="http://schemas.openxmlformats.org/officeDocument/2006/relationships/notesSlide" Target="/ppt/notesSlides/notesSlide5.xml" Id="Rc0fc0866877b43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b469cf5ef491a" /><Relationship Type="http://schemas.openxmlformats.org/officeDocument/2006/relationships/notesSlide" Target="/ppt/notesSlides/notesSlide6.xml" Id="Rc6cb8ba9e9d74f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686010a5a4c3a" /><Relationship Type="http://schemas.openxmlformats.org/officeDocument/2006/relationships/notesSlide" Target="/ppt/notesSlides/notesSlide7.xml" Id="Re1fece9167e04f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1e835015564fa4" /><Relationship Type="http://schemas.openxmlformats.org/officeDocument/2006/relationships/notesSlide" Target="/ppt/notesSlides/notesSlide8.xml" Id="R7afce10a3f6d4e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66553390c49b3" /><Relationship Type="http://schemas.openxmlformats.org/officeDocument/2006/relationships/notesSlide" Target="/ppt/notesSlides/notesSlide9.xml" Id="Rb1b6c96ecfa84d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3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F583DA-9C0D-49EB-AF7C-BE2192ED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925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EF68C-96E1-40C4-93DA-60A1C7C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0"/>
            <a:ext cx="4114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2B2A23-F315-43C3-B7DE-33A5CC24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19250"/>
            <a:ext cx="2209800" cy="2209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4B5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00013-E694-4A3A-8A7A-211E2F13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066925"/>
            <a:ext cx="1314450" cy="1314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76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C4DF0-CD61-4808-B152-8E9E3422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5050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BFA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972033-12D4-4CF9-A24F-6B955119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295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925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9CAD5-4947-49B3-9AC4-0BDF9B09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929"/>
          </a:bodyPr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VRIDDHI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12F95-A8D2-42F7-B133-CD591EB9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AEBFA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EBFAD"/>
                </a:solidFill>
                <a:latin typeface="Arial"/>
                <a:ea typeface="Arial"/>
                <a:cs typeface="Arial"/>
              </a:rPr>
              <a:t>AI Stock Research Platform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ED28FB-6F4F-493D-A361-8110FDB8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5829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D8E2E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E2E4"/>
                </a:solidFill>
                <a:latin typeface="Arial"/>
                <a:ea typeface="Arial"/>
                <a:cs typeface="Arial"/>
              </a:rPr>
              <a:t>Explainable, educational research for Indian retail investors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85D85-60DD-4ADF-AA7E-AA61AB24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81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6B8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6B878"/>
                </a:solidFill>
                <a:latin typeface="Arial"/>
                <a:ea typeface="Arial"/>
                <a:cs typeface="Arial"/>
              </a:rPr>
              <a:t>IBM Bobathon  |  AI Track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BB53D5-C76C-4836-817F-681B7846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E2E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8E2E4"/>
                </a:solidFill>
                <a:latin typeface="Arial"/>
                <a:ea typeface="Arial"/>
                <a:cs typeface="Arial"/>
              </a:rPr>
              <a:t>Dharsandiya Prit Dilipbhai</a:t>
            </a:r>
          </a:p>
          <a:p xmlns:a="http://schemas.openxmlformats.org/drawingml/2006/main">
            <a:pPr>
              <a:buNone/>
              <a:defRPr sz="1125" b="0">
                <a:solidFill>
                  <a:srgbClr val="D8E2E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8E2E4"/>
                </a:solidFill>
                <a:latin typeface="Arial"/>
                <a:ea typeface="Arial"/>
                <a:cs typeface="Arial"/>
              </a:rPr>
              <a:t>Dhruv Joshi Rahul  |  Nanda Bhavya  |  Devani Kunj Dipakbhai</a:t>
            </a:r>
          </a:p>
        </p:txBody>
      </p:sp>
    </p:spTree>
    <p:extLst>
      <p:ext uri="{BB962C8B-B14F-4D97-AF65-F5344CB8AC3E}">
        <p14:creationId xmlns:p14="http://schemas.microsoft.com/office/powerpoint/2010/main" val="6631929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9CD834-5ACB-41B9-9BFB-151FCDB0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07193-BCD1-4FE2-8819-25CBD7BB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90"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02331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02331"/>
                </a:solidFill>
                <a:latin typeface="Arial"/>
                <a:ea typeface="Arial"/>
                <a:cs typeface="Arial"/>
              </a:rPr>
              <a:t>The research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0EB4D-DF78-4A6F-AA4D-F97F9CED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Indian retail investors work across disconnected data sources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43331-E66C-4A7B-AFB5-23E204E6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925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08B5F8-5E3D-4899-97B5-CA93CBCA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676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17"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A2934"/>
                </a:solidFill>
                <a:latin typeface="Arial"/>
                <a:ea typeface="Arial"/>
                <a:cs typeface="Arial"/>
              </a:rPr>
              <a:t>One research decision can require a market-data site, filings portal, annual report, news feed, and technical chart.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D17BD-1488-4B3A-8E39-7F1FCA34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E7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57831C-9297-462A-87C9-1D406E91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337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2934"/>
                </a:solidFill>
                <a:latin typeface="Arial"/>
                <a:ea typeface="Arial"/>
                <a:cs typeface="Arial"/>
              </a:rPr>
              <a:t>Fragmented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67982-A5DB-420B-8AB7-789CD6E9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534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Financial statements, corporate announcements, and price data live in separate places.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035A1E-D2D5-471C-AF60-4B761100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E7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ED9B00-77E2-4C97-8C6D-9B87B9A0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671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2934"/>
                </a:solidFill>
                <a:latin typeface="Arial"/>
                <a:ea typeface="Arial"/>
                <a:cs typeface="Arial"/>
              </a:rPr>
              <a:t>Uneven quality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BEA638-9920-428D-B67E-9F775DDE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815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Headlines and isolated ratios can hide governance, cash-flow, or disclosure risks.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3C7041-565D-49E3-A9E1-03DF3206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925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ECAC5A-461F-4A68-BDEE-F13F4947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006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2934"/>
                </a:solidFill>
                <a:latin typeface="Arial"/>
                <a:ea typeface="Arial"/>
                <a:cs typeface="Arial"/>
              </a:rPr>
              <a:t>Hard to repeat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3E9E7-90DC-45C9-8B7A-82FB11FB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149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Manual analysis produces inconsistent comparisons across companies.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E6FBAC-17D8-4672-8A7B-ACBE49F1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19300"/>
            <a:ext cx="31432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104A81-A6EE-4422-A238-9D3BD91B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812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925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95316D-0C68-44C9-B9BC-CF054212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6700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2934"/>
                </a:solidFill>
                <a:latin typeface="Arial"/>
                <a:ea typeface="Arial"/>
                <a:cs typeface="Arial"/>
              </a:rPr>
              <a:t>What users need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CC2B4A-436F-4E2D-8372-1DB3217D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00400"/>
            <a:ext cx="23241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102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023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331"/>
                </a:solidFill>
                <a:latin typeface="Arial"/>
                <a:ea typeface="Arial"/>
                <a:cs typeface="Arial"/>
              </a:rPr>
              <a:t>A repeatable workflow that brings evidence together and explains the score behind the conclusion.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7BF0E2-B2EF-48B5-AACF-4773C735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055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0C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EE8F33-D726-48A4-A856-5A92E909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VRIDDHI  |  IBM Bobathon submission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8397BF-00ED-4920-9DDF-E199A1F8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579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075634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4B18CE-9C78-45AB-B190-0CD83578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B9F62-28A4-4F7D-BC3B-56ABB059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90"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02331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02331"/>
                </a:solidFill>
                <a:latin typeface="Arial"/>
                <a:ea typeface="Arial"/>
                <a:cs typeface="Arial"/>
              </a:rPr>
              <a:t>Vriddhi research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6A7F7-DD6D-49D2-A6C1-47E4FFDE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Structured evidence first, optional AI synthesis second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78405F-8195-48B0-B6C5-635335E4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925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E868C-ABDF-410F-A62D-CB10FA8E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E7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78E05-9D8F-480E-8D8A-48229BB3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1ED83-DDEC-4919-A4EF-AD38287F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09825"/>
            <a:ext cx="1638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EC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979B7C-F39A-4154-BEF5-23803735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A2934"/>
                </a:solidFill>
                <a:latin typeface="Arial"/>
                <a:ea typeface="Arial"/>
                <a:cs typeface="Arial"/>
              </a:rPr>
              <a:t>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786D71-9606-4B8C-A95B-79AB2113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214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Choose an Indian equity or saved holding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7071C2-B6E7-40ED-8EE9-E9233144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33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E7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67F3C7-2687-49EA-8FB9-81BBBF3A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050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B5709A-D0B8-4BF5-A52D-1D2119EA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09825"/>
            <a:ext cx="1638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EC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0B42F4-D7B3-42E4-A8B2-6B91513D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28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A2934"/>
                </a:solidFill>
                <a:latin typeface="Arial"/>
                <a:ea typeface="Arial"/>
                <a:cs typeface="Arial"/>
              </a:rPr>
              <a:t>Collect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59E0A1-2BE5-4EC2-A0DF-E62E1D5D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409950"/>
            <a:ext cx="214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Load market data, filings, news, and fundamentals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AB588A-497D-4C6F-8F90-BC0F72D7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33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BFA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CD91C6-33B4-4872-BC7A-361C6A0A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050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1C5447-3ECF-40DE-B35E-EDD995F2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09825"/>
            <a:ext cx="1638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EC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D9CDA2-E541-47CE-9662-2EE222F2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28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A2934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80CE2D-2CB8-404C-89FD-D80AA868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09950"/>
            <a:ext cx="214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Calculate six transparent research layers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1F17B7-FC60-4AB1-A7DD-FA6A2705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33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E7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F0818-3A45-429D-A87E-DC70EFA2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050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C01283-FF87-4830-B422-030CE936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28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A2934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A777EE-46D7-407A-A478-EA880C3F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09950"/>
            <a:ext cx="214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Show metrics, red flags, charts, and safeguards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3167FA-7F9B-4D96-A138-C8C856D4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10648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E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332B25-0FB1-4305-A94F-FC4CCDD0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10648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9254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D4D776-AA47-43F8-A0BD-F9CB107F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6732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162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A2934"/>
                </a:solidFill>
                <a:latin typeface="Arial"/>
                <a:ea typeface="Arial"/>
                <a:cs typeface="Arial"/>
              </a:rPr>
              <a:t>The deterministic score remains the source of truth. Gemini or Groq can summarize the structured evidence, while sanitization removes prohibited recommendation language.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D1F4B6-B4A6-42D8-A32D-AD3598B1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055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0C7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3D8868-540C-4BE6-9012-802C06E7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VRIDDHI  |  IBM Bobathon submission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D8AE71-423D-4FAC-B664-E4884C83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579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384476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D0C329-9979-4EB6-9FE0-8CFEEB47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974AE-F06C-4262-93F8-D665EC1A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90"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02331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02331"/>
                </a:solidFill>
                <a:latin typeface="Arial"/>
                <a:ea typeface="Arial"/>
                <a:cs typeface="Arial"/>
              </a:rPr>
              <a:t>Six-layer research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A3E29-1B18-464F-866A-A2AF164E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100 points across quality, risk, value, and market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C7FB5-3160-4DFF-9E8F-F5699FF1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925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A8F028-BEB4-4C2C-A094-1FC61E47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32004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3B3E89-FC3B-43D0-AF85-165F8B1D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514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E7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B5D79C-2763-429C-B0F5-D06F2D31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431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24301-29AC-4E1D-A022-4EFCB281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1145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37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2934"/>
                </a:solidFill>
                <a:latin typeface="Arial"/>
                <a:ea typeface="Arial"/>
                <a:cs typeface="Arial"/>
              </a:rPr>
              <a:t>Business quality &amp; moat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2F93F1-6E2A-4760-BF00-E41F3EE4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86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15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C5154F-8046-416B-8BF9-90BCB742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47850"/>
            <a:ext cx="32004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C8E152-675E-4CC8-B63A-73A76F17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47850"/>
            <a:ext cx="514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FA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A52A80-D1D3-40AE-A792-737255DE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3431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0BFCC8-7A88-492A-A1D2-97BA1178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145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2934"/>
                </a:solidFill>
                <a:latin typeface="Arial"/>
                <a:ea typeface="Arial"/>
                <a:cs typeface="Arial"/>
              </a:rPr>
              <a:t>Financial strength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43DDB1-3F1C-44AD-B231-9A3C18DA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86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25 points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629DB-8828-4D13-A73E-8FD554D0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47850"/>
            <a:ext cx="32004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470228-571A-4B99-8418-26AD6A5C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47850"/>
            <a:ext cx="514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925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CFBAC8-53C9-4167-B4BE-8EE55DC1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3431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D26FA3-0ABB-4FB8-B0DE-EA5D99BA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145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197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2934"/>
                </a:solidFill>
                <a:latin typeface="Arial"/>
                <a:ea typeface="Arial"/>
                <a:cs typeface="Arial"/>
              </a:rPr>
              <a:t>Valuation &amp; margin of safety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362A75-3046-41AD-976A-1F257EC9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86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15 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473051-CA6B-48A4-9689-932B16F5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32004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BE7EE7-9900-4ADA-BDFB-ABA86183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514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5A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ADE28C-4165-4CC3-BDE2-CE0A8458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057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BFFB99-2521-484D-B4C3-ADA17937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290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152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2934"/>
                </a:solidFill>
                <a:latin typeface="Arial"/>
                <a:ea typeface="Arial"/>
                <a:cs typeface="Arial"/>
              </a:rPr>
              <a:t>Management &amp; governance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DE6D6D-69D9-4D5E-A0A1-6EFC4A25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00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20 points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EDAFFF-089D-4B27-B022-1F2746F5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62350"/>
            <a:ext cx="32004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1DB828-37A9-4D67-87A5-6215A5AC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62350"/>
            <a:ext cx="514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4B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709E56-DE30-45DD-AB33-EBB65C02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057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F66049-0FFF-4286-B4C0-8B610B5D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290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822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2934"/>
                </a:solidFill>
                <a:latin typeface="Arial"/>
                <a:ea typeface="Arial"/>
                <a:cs typeface="Arial"/>
              </a:rPr>
              <a:t>Growth story &amp; runway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F6507C-6B06-4FAC-BC14-3D974120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00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15 points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02D7BF-062A-45A3-AAF7-EEE3DA62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62350"/>
            <a:ext cx="32004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FF8E4B-5106-41F6-9ED1-B1972E61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62350"/>
            <a:ext cx="514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0B9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A00EBF-EAAA-4301-8A01-9A80CECB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057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73C105-E463-4D0A-861D-B851BCE2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290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537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2934"/>
                </a:solidFill>
                <a:latin typeface="Arial"/>
                <a:ea typeface="Arial"/>
                <a:cs typeface="Arial"/>
              </a:rPr>
              <a:t>Technical setup &amp; timing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524810-C358-4BB3-9A51-01ED126C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00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10 points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77A6E4-DB24-4DA7-9F1B-D88B1233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781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A4514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4514F"/>
                </a:solidFill>
                <a:latin typeface="Arial"/>
                <a:ea typeface="Arial"/>
                <a:cs typeface="Arial"/>
              </a:rPr>
              <a:t>Score bands communicate research priority, not investment recommendations.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1BAEAB-194A-449D-BB37-070DAFE4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055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0C7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6D9C17-0B42-4D29-99BA-1D71F96E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VRIDDHI  |  IBM Bobathon submission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F044AD-59F0-42D9-8451-625304BA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579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503927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5A2AF4-96CD-4726-B4A6-6C4B19CE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2023F2-15CB-4104-88A2-C2BA5413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90"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02331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02331"/>
                </a:solidFill>
                <a:latin typeface="Arial"/>
                <a:ea typeface="Arial"/>
                <a:cs typeface="Arial"/>
              </a:rPr>
              <a:t>Research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1EDE25-C8C1-4368-B131-9380DAD5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A focused dashboard replaces the manual research trail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300332-EB80-4C6F-A221-791BD626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925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021AF-BB02-44B0-BB5E-0FB6105C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59055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DD0A6C-E007-4136-9C64-7F0316E7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590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925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5BBDED-97F5-480F-B452-394CED4E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71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RELIANCE.NS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9500A7-0556-42C7-A258-0C1F6D3A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2476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857"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6D3D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6D3D5"/>
                </a:solidFill>
                <a:latin typeface="Arial"/>
                <a:ea typeface="Arial"/>
                <a:cs typeface="Arial"/>
              </a:rPr>
              <a:t>Research overview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98E407-8AFC-4C10-A76B-E548DE95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17907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25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F12F5F-2BF5-4150-B6D4-B6EBCD5E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81350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6D3D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6D3D5"/>
                </a:solidFill>
                <a:latin typeface="Arial"/>
                <a:ea typeface="Arial"/>
                <a:cs typeface="Arial"/>
              </a:rPr>
              <a:t>Research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8A313-2780-444F-AEC0-5931E862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083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AEBFA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AEBFAD"/>
                </a:solidFill>
                <a:latin typeface="Arial"/>
                <a:ea typeface="Arial"/>
                <a:cs typeface="Arial"/>
              </a:rPr>
              <a:t>78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64CAD6-A6AD-4CC4-A8E7-E467D9F7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52750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E5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B8F1BB-7504-47D8-A983-5FA58E80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52750"/>
            <a:ext cx="2209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E7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A5AEC8-B7FB-4578-BF6D-51910D0A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147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6D3D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6D3D5"/>
                </a:solidFill>
                <a:latin typeface="Arial"/>
                <a:ea typeface="Arial"/>
                <a:cs typeface="Arial"/>
              </a:rPr>
              <a:t>Layer contribution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42CCDC-568F-45B4-B04E-70EE3294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5760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E5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A936A4-9505-4815-BB6B-EDADAAD3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57600"/>
            <a:ext cx="193167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E7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9434EC-6750-4B06-897C-5EB59A62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9433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E5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A82E3F-9702-4592-9E7A-5BA6552D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943350"/>
            <a:ext cx="163449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E7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B62452-30CD-48C9-AD5A-77FDA3A8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2910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E5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39BFBE-DD00-4F9C-B53F-EA90776E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29100"/>
            <a:ext cx="143637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E7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359DF1-D893-4F79-92F4-66DA5B1E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5148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E5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12191F-716F-41F4-9851-8A2F65FF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514850"/>
            <a:ext cx="205549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FA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C86F0A-4F59-4309-8EC9-B9453B23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buNone/>
              <a:defRPr sz="900" b="0" i="1">
                <a:solidFill>
                  <a:srgbClr val="C6D3D5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C6D3D5"/>
                </a:solidFill>
                <a:latin typeface="Arial"/>
                <a:ea typeface="Arial"/>
                <a:cs typeface="Arial"/>
              </a:rPr>
              <a:t>Illustrative dashboard composition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6124A8-ACBD-479C-BE80-F418867E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383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9254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593392-9DFA-4822-943C-B979026C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812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2934"/>
                </a:solidFill>
                <a:latin typeface="Arial"/>
                <a:ea typeface="Arial"/>
                <a:cs typeface="Arial"/>
              </a:rPr>
              <a:t>Traceable metrics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3978D3-D030-460F-BCDE-B884F995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431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Each score layer links to named financial, governance, growth, or technical inputs.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356DBD-89A8-4F4F-B779-0DA391AB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051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9254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1864CD-D7CE-498D-AD73-3E2614CE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480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2934"/>
                </a:solidFill>
                <a:latin typeface="Arial"/>
                <a:ea typeface="Arial"/>
                <a:cs typeface="Arial"/>
              </a:rPr>
              <a:t>Risk visibility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448911-D20A-4CD6-BE8F-E399ACA9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099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Red-flag cards surface missing disclosures and data-quality gaps.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0450B3-B7B9-46E7-9D18-359B4FD1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719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9254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B655A6-0328-4D49-B1F5-3C1602EE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148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2934"/>
                </a:solidFill>
                <a:latin typeface="Arial"/>
                <a:ea typeface="Arial"/>
                <a:cs typeface="Arial"/>
              </a:rPr>
              <a:t>Portfolio context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959E7D-37D1-4AA1-B1F2-8750B61D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767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Watchlists, comparisons, and portfolio screens keep research organized.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992519-9A2F-4345-8DAC-13104E81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055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0C7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3CFEF9-D8A3-475C-B886-C875361C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VRIDDHI  |  IBM Bobathon submission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29628A-42A9-49BD-8955-E961C485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579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63939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F81137-4C97-44F2-8D62-64DFBF41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9FA67-290B-4E65-9C6D-98B91978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90"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02331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02331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8F112-BD7E-488B-8683-7E584616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A modular stack for research, scoring, and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79779-F248-45A3-A55C-FE838BB9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925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05E5AA-2DBF-4761-B050-B7E0715D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1695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E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52515C-E1E7-4A5D-9E05-D47E2AF1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1381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037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2934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9F906-BEEA-4E13-BAA8-DFFC623A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480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E82BCE-F393-4311-814F-4B25A372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62250"/>
            <a:ext cx="1695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131532-930A-45BC-A551-02D4D511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52750"/>
            <a:ext cx="1381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037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2934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10288-FD3A-4D8D-8CAF-896CFFBF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480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Next.js + React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5EECB-03BC-4D12-A3A9-413AC86A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1695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E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43D3EB-2F0B-4A2F-8BE7-015A1B61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52750"/>
            <a:ext cx="1381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037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2934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1511AD-C9A7-4478-84B6-42F635DE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480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E16DA4-AB22-43F3-B875-C9138F38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943100"/>
            <a:ext cx="1695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4C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9DBF40-9677-43D1-8ED6-30A2B27A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33600"/>
            <a:ext cx="1381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037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2934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56A02B-DD77-4069-8B5B-F88BF898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288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Market, news, filings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B8E9FE-2694-4C91-8F44-C8953251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62350"/>
            <a:ext cx="1695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D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E213CC-639D-4A27-899A-12DA74D0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52850"/>
            <a:ext cx="1381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037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2934"/>
                </a:solidFill>
                <a:latin typeface="Arial"/>
                <a:ea typeface="Arial"/>
                <a:cs typeface="Arial"/>
              </a:rPr>
              <a:t>Services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827699-1542-47E0-8E94-E8FEE2CC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0481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Scoring + AI summary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D8EDDC-80CB-4C57-B47B-7A952D0D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62250"/>
            <a:ext cx="1695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E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E38AC6-1B9B-4267-B4E2-15505CE8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0"/>
            <a:ext cx="1381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037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2934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7A5236-B40D-4FC1-92A3-FF9AB3E0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480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Supabase / PostgreSQL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A01563-9E72-42FA-9E44-2E308F78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718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E7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5A7367-73B9-46A1-B4D5-9E972375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718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E7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9D6543-80FC-4E73-ABAB-A8BA0790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718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E7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489FF8-21B7-4876-8529-ADD1BE5C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71825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E7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A6B110-A797-4B84-843D-39B6249A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E0C618-72CB-4FDB-BE35-8DD6BB86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71825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D26E1B-0B03-46AA-8A81-61902EA2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435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422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2934"/>
                </a:solidFill>
                <a:latin typeface="Arial"/>
                <a:ea typeface="Arial"/>
                <a:cs typeface="Arial"/>
              </a:rPr>
              <a:t>Optional AI providers generate summaries from structured evidence. The scoring engine remains deterministic and auditable.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944001-7114-4ED5-B144-E8794BA7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055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0C7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000B6C-1DAF-4BC2-8220-CE395290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VRIDDHI  |  IBM Bobathon submission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656827-8057-420E-9A5A-8815B46A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579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81A550-831A-441C-ABEB-ECA28DF4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62300"/>
            <a:ext cx="3162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E7A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1679199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ACD319-AD31-4817-A984-25E79559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C4A32-F529-4FDD-A539-83D7882B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90"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02331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02331"/>
                </a:solidFill>
                <a:latin typeface="Arial"/>
                <a:ea typeface="Arial"/>
                <a:cs typeface="Arial"/>
              </a:rPr>
              <a:t>Data ingestion and deployment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5ABB0-8715-4B55-A12D-F3DDBBCC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A practical path from public filings to a cloud-hosted research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0F612-A9E7-4E34-9B13-0AC0F5BE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925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F65CCD-D9D2-4E4E-BFC9-5010816C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31432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C24CD-CE5E-45B3-BC2E-3C37DD26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E7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EFED00-0E3F-40FF-9FA0-76AF51B1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795"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A2934"/>
                </a:solidFill>
                <a:latin typeface="Arial"/>
                <a:ea typeface="Arial"/>
                <a:cs typeface="Arial"/>
              </a:rPr>
              <a:t>Crawl4AI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D5CC51-3179-4E2E-BD3B-8C16CE50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Self-hosted crawler for BSE announcements and filing extraction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05436F-D348-49A9-A55E-75A2551B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19300"/>
            <a:ext cx="31432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0C4F39-B86F-4F31-85FB-E5ADA92B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1930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FA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5C9A38-D3DC-4A4D-9312-8175FA9C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574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795"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A2934"/>
                </a:solidFill>
                <a:latin typeface="Arial"/>
                <a:ea typeface="Arial"/>
                <a:cs typeface="Arial"/>
              </a:rPr>
              <a:t>Render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42D07F-2CBE-4188-9309-2D3BDDDE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2895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756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FastAPI API with a health endpoint and environment-managed credentials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211BF9-2A5A-42A0-827D-3569E848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19300"/>
            <a:ext cx="31432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469B5C-7C6C-4B4B-BF9C-DE0F31AB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1930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1D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1B8479-487B-4298-ACE2-2CF0E738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795"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A2934"/>
                </a:solidFill>
                <a:latin typeface="Arial"/>
                <a:ea typeface="Arial"/>
                <a:cs typeface="Arial"/>
              </a:rPr>
              <a:t>Vercel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EE674F-77DA-4086-856A-B67C61B8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2895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Next.js frontend with the Render API URL embedded at build 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00C0F1-BA6D-4350-9B53-976DB001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1047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E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F68D31-4D97-4237-8ED8-13A191E4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925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F10B1D-D42B-426F-A421-D56DF9D9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958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591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A2934"/>
                </a:solidFill>
                <a:latin typeface="Arial"/>
                <a:ea typeface="Arial"/>
                <a:cs typeface="Arial"/>
              </a:rPr>
              <a:t>Keep API keys and crawler credentials on server-side services. Browser code receives only public configuration such as the API URL and Supabase anonymous key.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A1B530-EFDE-4BA5-A640-604499BA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055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0C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760445-6540-45B4-A68C-EC024258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VRIDDHI  |  IBM Bobathon submission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4DFAB2-CEB4-427A-ACAD-2B5F1E71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579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777028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3A3F1A-28B9-4A74-8CBD-FF372818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3BBB5-2F3A-4BD0-86B3-72BDD831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90"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02331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02331"/>
                </a:solidFill>
                <a:latin typeface="Arial"/>
                <a:ea typeface="Arial"/>
                <a:cs typeface="Arial"/>
              </a:rPr>
              <a:t>Responsible-use safeguards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6375F-B416-49A4-AFCF-3BE288D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Vriddhi supports research and learning, not financial advice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EE8B29-08B3-41B6-84B8-364F8B72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925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82A860-2CB7-4C41-87F2-5CD5C5A1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E7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4553A-5F69-4174-A266-952A9C5D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14525"/>
            <a:ext cx="561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2934"/>
                </a:solidFill>
                <a:latin typeface="Arial"/>
                <a:ea typeface="Arial"/>
                <a:cs typeface="Arial"/>
              </a:rPr>
              <a:t>No buy, sell, or hold recommendations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454116-F435-4190-9A06-9FCF9246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E7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AE2605-96FE-46A9-9FAD-310347AD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24125"/>
            <a:ext cx="561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2934"/>
                </a:solidFill>
                <a:latin typeface="Arial"/>
                <a:ea typeface="Arial"/>
                <a:cs typeface="Arial"/>
              </a:rPr>
              <a:t>No price targets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927FFF-36E2-430C-BC8A-62E07ABE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E7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297692-6B65-429C-811F-7A15D90E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33725"/>
            <a:ext cx="561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A2934"/>
                </a:solidFill>
                <a:latin typeface="Arial"/>
                <a:ea typeface="Arial"/>
                <a:cs typeface="Arial"/>
              </a:rPr>
              <a:t>Mandatory educational disclaimers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48D1D-9528-4D52-B912-1F73498F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E7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48CEFF-F2B0-4C29-883E-09B1579E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43325"/>
            <a:ext cx="561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A2934"/>
                </a:solidFill>
                <a:latin typeface="Arial"/>
                <a:ea typeface="Arial"/>
                <a:cs typeface="Arial"/>
              </a:rPr>
              <a:t>Sanitization of AI-generated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EE7736-0CA1-4B35-9B32-AAD33521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925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2D4AE2-210B-4487-B7D1-FE97983F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52925"/>
            <a:ext cx="561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A293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A2934"/>
                </a:solidFill>
                <a:latin typeface="Arial"/>
                <a:ea typeface="Arial"/>
                <a:cs typeface="Arial"/>
              </a:rPr>
              <a:t>Public-source traceability for reported metrics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35E062-E071-456D-99CC-4B3ABB4C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847850"/>
            <a:ext cx="31432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ED456B-051D-497C-B433-F526E980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95600"/>
            <a:ext cx="2038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925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431011-C3C8-4AE7-BF0A-74CA25F2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050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AEBFA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EBFAD"/>
                </a:solidFill>
                <a:latin typeface="Arial"/>
                <a:ea typeface="Arial"/>
                <a:cs typeface="Arial"/>
              </a:rPr>
              <a:t>Educational research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D9E7B3-46D0-4EE0-A5A7-92ABF1D5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0"/>
            <a:ext cx="2305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392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Users should verify data and consult a SEBI-registered investment adviser before making investment decisions.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875B7F-61C4-4BBC-ACD1-3851036A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055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0C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95F3B8-5509-4AFE-AD5F-48D62DD7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VRIDDHI  |  IBM Bobathon submission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9C9DD4-9CCD-4895-B205-51B70BA5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579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5B748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B748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398934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3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FF3936-81FD-4CE6-8976-1230F2AF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925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BCBB2-8C6C-4B85-877C-15C12B07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485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68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comes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283DA-39D2-4AAC-8E15-27C55506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716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AEBFA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EBFAD"/>
                </a:solidFill>
                <a:latin typeface="Arial"/>
                <a:ea typeface="Arial"/>
                <a:cs typeface="Arial"/>
              </a:rPr>
              <a:t>A submission-ready prototype with a clear path to production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8918F8-3494-4EFE-A1D6-F34090E7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D6B87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6B878"/>
                </a:solidFill>
                <a:latin typeface="Arial"/>
                <a:ea typeface="Arial"/>
                <a:cs typeface="Arial"/>
              </a:rPr>
              <a:t>Deploy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F9C0E-D878-4C45-BF19-1FD5E1D6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81275"/>
            <a:ext cx="49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51A75E-FA21-470E-ABC2-6A91F34D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574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E2E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E2E4"/>
                </a:solidFill>
                <a:latin typeface="Arial"/>
                <a:ea typeface="Arial"/>
                <a:cs typeface="Arial"/>
              </a:rPr>
              <a:t>Connect Vercel frontend, Render API, and Supabase environment settings.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B3BC46-855B-4C79-9C4B-3B49D696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D6B87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6B878"/>
                </a:solidFill>
                <a:latin typeface="Arial"/>
                <a:ea typeface="Arial"/>
                <a:cs typeface="Arial"/>
              </a:rPr>
              <a:t>Integrate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9FB33B-A9B7-45DC-91E8-6B2AEFE7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514725"/>
            <a:ext cx="49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57F729-F68C-4857-AE01-D5588305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9090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E2E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E2E4"/>
                </a:solidFill>
                <a:latin typeface="Arial"/>
                <a:ea typeface="Arial"/>
                <a:cs typeface="Arial"/>
              </a:rPr>
              <a:t>Run Crawl4AI as a protected server-side crawler for filings and announcements.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4891B1-95DA-4FFD-90B8-E0C8947E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D6B87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6B878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6301EF-1A13-49A7-A95D-709D2FD5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448175"/>
            <a:ext cx="49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6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8F7A8A-1AC6-4AA9-947F-EFECB65E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243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E2E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E2E4"/>
                </a:solidFill>
                <a:latin typeface="Arial"/>
                <a:ea typeface="Arial"/>
                <a:cs typeface="Arial"/>
              </a:rPr>
              <a:t>Test data freshness, output safeguards, and user research flows with real users.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409EC6-1F56-4891-8E20-F0061385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57350"/>
            <a:ext cx="22669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D4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D9155B-91E2-4294-BF3A-A8F60510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431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925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E49D68-9ED4-4537-96BB-71369A3A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193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AEBFA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EBFAD"/>
                </a:solidFill>
                <a:latin typeface="Arial"/>
                <a:ea typeface="Arial"/>
                <a:cs typeface="Arial"/>
              </a:rPr>
              <a:t>Team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C7EFF8-525B-4EB0-8D33-76B51D91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71750"/>
            <a:ext cx="17335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57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Dharsandiya Prit Dilipbhai</a:t>
            </a:r>
          </a:p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26MCA003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Dhruv Joshi Rahul</a:t>
            </a:r>
          </a:p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26MCA004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Nanda Bhavya</a:t>
            </a:r>
          </a:p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26MCA010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Devani Kunj Dipakbhai</a:t>
            </a:r>
          </a:p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26MCA002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8ADFF3-2DF1-411D-8DE8-0D816FFB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52465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2026-09-15T16:03:12.8640000Z</dcterms:created>
  <dcterms:modified xsi:type="dcterms:W3CDTF">2026-09-15T16:03:12.8640000Z</dcterms:modified>
</coreProperties>
</file>